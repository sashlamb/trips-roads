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561" r:id="rId2"/>
    <p:sldId id="2562" r:id="rId3"/>
    <p:sldId id="2563" r:id="rId4"/>
    <p:sldId id="2586" r:id="rId5"/>
    <p:sldId id="2564" r:id="rId6"/>
    <p:sldId id="2566" r:id="rId7"/>
    <p:sldId id="2579" r:id="rId8"/>
    <p:sldId id="2581" r:id="rId9"/>
    <p:sldId id="2580" r:id="rId10"/>
    <p:sldId id="2590" r:id="rId11"/>
    <p:sldId id="2588" r:id="rId12"/>
    <p:sldId id="2591" r:id="rId13"/>
    <p:sldId id="2589" r:id="rId14"/>
    <p:sldId id="2592" r:id="rId15"/>
    <p:sldId id="2583" r:id="rId16"/>
    <p:sldId id="2593"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de Trips &amp; Roads : Une application collaborative pour la planification et le partage de road trips" id="{121FA658-EFDB-4065-8AB2-0512FC2BD8F0}">
          <p14:sldIdLst>
            <p14:sldId id="2561"/>
            <p14:sldId id="2562"/>
          </p14:sldIdLst>
        </p14:section>
        <p14:section name="Standardisation et uniformisation des pratiques de développement" id="{428A27D0-F3AB-432E-B655-5A52FC7A0373}">
          <p14:sldIdLst>
            <p14:sldId id="2563"/>
            <p14:sldId id="2586"/>
            <p14:sldId id="2564"/>
            <p14:sldId id="2566"/>
          </p14:sldIdLst>
        </p14:section>
        <p14:section name="Optimisation technique" id="{D34376EF-76E2-4359-B3BC-799AEE860DC3}">
          <p14:sldIdLst>
            <p14:sldId id="2579"/>
            <p14:sldId id="2581"/>
            <p14:sldId id="2580"/>
            <p14:sldId id="2590"/>
          </p14:sldIdLst>
        </p14:section>
        <p14:section name="Optimisation des axes d'amélioration identifiés" id="{8B0CFBDD-341F-490C-A02A-547CEDA343CC}">
          <p14:sldIdLst>
            <p14:sldId id="2588"/>
            <p14:sldId id="2591"/>
          </p14:sldIdLst>
        </p14:section>
        <p14:section name="Présentation technique généralisé" id="{D918AA31-B20A-4E29-A8A9-EA499D90692C}">
          <p14:sldIdLst>
            <p14:sldId id="2589"/>
            <p14:sldId id="2592"/>
          </p14:sldIdLst>
        </p14:section>
        <p14:section name="Conclusion" id="{1D98DF60-D556-460E-AEC7-EC51DD2835BF}">
          <p14:sldIdLst>
            <p14:sldId id="2583"/>
            <p14:sldId id="25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4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3" autoAdjust="0"/>
    <p:restoredTop sz="92242" autoAdjust="0"/>
  </p:normalViewPr>
  <p:slideViewPr>
    <p:cSldViewPr snapToGrid="0">
      <p:cViewPr varScale="1">
        <p:scale>
          <a:sx n="82" d="100"/>
          <a:sy n="82" d="100"/>
        </p:scale>
        <p:origin x="720"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05A37F-3EAD-4416-93E1-ED93A29979E7}"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537E6B6-7DC2-473B-B392-644A2981CB80}">
      <dgm:prSet custT="1"/>
      <dgm:spPr/>
      <dgm:t>
        <a:bodyPr/>
        <a:lstStyle/>
        <a:p>
          <a:pPr>
            <a:lnSpc>
              <a:spcPct val="100000"/>
            </a:lnSpc>
            <a:defRPr b="1"/>
          </a:pPr>
          <a:r>
            <a:rPr lang="fr-FR" sz="2400" noProof="0" dirty="0"/>
            <a:t>Sécurité sociale</a:t>
          </a:r>
        </a:p>
      </dgm:t>
    </dgm:pt>
    <dgm:pt modelId="{1407531E-0A92-4EDC-82F2-5C7584C7F487}" type="parTrans" cxnId="{2336D89A-3667-4403-BF4B-C49A69A6210B}">
      <dgm:prSet/>
      <dgm:spPr/>
      <dgm:t>
        <a:bodyPr/>
        <a:lstStyle/>
        <a:p>
          <a:endParaRPr lang="en-US"/>
        </a:p>
      </dgm:t>
    </dgm:pt>
    <dgm:pt modelId="{8AD05E4D-84DC-4D46-9D8F-6992A62BCA21}" type="sibTrans" cxnId="{2336D89A-3667-4403-BF4B-C49A69A6210B}">
      <dgm:prSet/>
      <dgm:spPr/>
      <dgm:t>
        <a:bodyPr/>
        <a:lstStyle/>
        <a:p>
          <a:pPr>
            <a:lnSpc>
              <a:spcPct val="100000"/>
            </a:lnSpc>
            <a:defRPr b="1"/>
          </a:pPr>
          <a:endParaRPr lang="en-US"/>
        </a:p>
      </dgm:t>
    </dgm:pt>
    <dgm:pt modelId="{DDD15A4C-B482-4B20-B739-C4E83CA0396C}">
      <dgm:prSet custT="1"/>
      <dgm:spPr/>
      <dgm:t>
        <a:bodyPr/>
        <a:lstStyle/>
        <a:p>
          <a:pPr>
            <a:lnSpc>
              <a:spcPct val="100000"/>
            </a:lnSpc>
          </a:pPr>
          <a:r>
            <a:rPr lang="fr-FR" sz="1800" noProof="0" dirty="0"/>
            <a:t>L’application n’est aujourd’hui pas équipe de fonctionnalité pour bloquer un utilisateur. </a:t>
          </a:r>
        </a:p>
      </dgm:t>
    </dgm:pt>
    <dgm:pt modelId="{A53AE6AB-E835-455E-8569-5AC1A65AD946}" type="parTrans" cxnId="{047FF905-65A6-4115-8DEB-79AC97D06A28}">
      <dgm:prSet/>
      <dgm:spPr/>
      <dgm:t>
        <a:bodyPr/>
        <a:lstStyle/>
        <a:p>
          <a:endParaRPr lang="en-US"/>
        </a:p>
      </dgm:t>
    </dgm:pt>
    <dgm:pt modelId="{EDE6F3D5-A10F-4458-A00D-9B72F975AC6D}" type="sibTrans" cxnId="{047FF905-65A6-4115-8DEB-79AC97D06A28}">
      <dgm:prSet/>
      <dgm:spPr/>
      <dgm:t>
        <a:bodyPr/>
        <a:lstStyle/>
        <a:p>
          <a:endParaRPr lang="en-US"/>
        </a:p>
      </dgm:t>
    </dgm:pt>
    <dgm:pt modelId="{81288325-6268-48D0-9108-128EA14AE0AF}">
      <dgm:prSet custT="1"/>
      <dgm:spPr/>
      <dgm:t>
        <a:bodyPr/>
        <a:lstStyle/>
        <a:p>
          <a:pPr>
            <a:lnSpc>
              <a:spcPct val="100000"/>
            </a:lnSpc>
            <a:defRPr b="1"/>
          </a:pPr>
          <a:r>
            <a:rPr lang="fr-FR" sz="2400" noProof="0" dirty="0"/>
            <a:t>Ajout de lieu en favoris</a:t>
          </a:r>
        </a:p>
      </dgm:t>
    </dgm:pt>
    <dgm:pt modelId="{3B71784E-4674-4086-82AE-AE63C9C09553}" type="parTrans" cxnId="{289C8CF4-FC3E-4093-B095-1915F668C9EB}">
      <dgm:prSet/>
      <dgm:spPr/>
      <dgm:t>
        <a:bodyPr/>
        <a:lstStyle/>
        <a:p>
          <a:endParaRPr lang="en-US"/>
        </a:p>
      </dgm:t>
    </dgm:pt>
    <dgm:pt modelId="{240149A7-072C-4EB9-97ED-5A5E59DDFDCD}" type="sibTrans" cxnId="{289C8CF4-FC3E-4093-B095-1915F668C9EB}">
      <dgm:prSet/>
      <dgm:spPr/>
      <dgm:t>
        <a:bodyPr/>
        <a:lstStyle/>
        <a:p>
          <a:pPr>
            <a:lnSpc>
              <a:spcPct val="100000"/>
            </a:lnSpc>
            <a:defRPr b="1"/>
          </a:pPr>
          <a:endParaRPr lang="en-US"/>
        </a:p>
      </dgm:t>
    </dgm:pt>
    <dgm:pt modelId="{27701A10-0123-464A-8B83-11302A4694EE}">
      <dgm:prSet custT="1"/>
      <dgm:spPr/>
      <dgm:t>
        <a:bodyPr/>
        <a:lstStyle/>
        <a:p>
          <a:pPr>
            <a:lnSpc>
              <a:spcPct val="100000"/>
            </a:lnSpc>
          </a:pPr>
          <a:r>
            <a:rPr lang="fr-FR" sz="1800" noProof="0" dirty="0"/>
            <a:t>Cette fonctionnalité ne marche actuellement plus. Ainsi il serait bien de la réimplémenter pour améliorer l’expérience utilisateur.</a:t>
          </a:r>
        </a:p>
      </dgm:t>
    </dgm:pt>
    <dgm:pt modelId="{D8BA504F-9569-44F7-9C97-1C7AE3CE012F}" type="parTrans" cxnId="{123A434A-4007-41F2-B613-B3FC330EA4D2}">
      <dgm:prSet/>
      <dgm:spPr/>
      <dgm:t>
        <a:bodyPr/>
        <a:lstStyle/>
        <a:p>
          <a:endParaRPr lang="en-US"/>
        </a:p>
      </dgm:t>
    </dgm:pt>
    <dgm:pt modelId="{5594E9B9-13F8-44AB-820E-50D6B1B71540}" type="sibTrans" cxnId="{123A434A-4007-41F2-B613-B3FC330EA4D2}">
      <dgm:prSet/>
      <dgm:spPr/>
      <dgm:t>
        <a:bodyPr/>
        <a:lstStyle/>
        <a:p>
          <a:endParaRPr lang="en-US"/>
        </a:p>
      </dgm:t>
    </dgm:pt>
    <dgm:pt modelId="{E6B57EDD-60C2-46A3-A9C3-DA3C04388845}">
      <dgm:prSet custT="1"/>
      <dgm:spPr/>
      <dgm:t>
        <a:bodyPr/>
        <a:lstStyle/>
        <a:p>
          <a:pPr>
            <a:lnSpc>
              <a:spcPct val="100000"/>
            </a:lnSpc>
            <a:defRPr b="1"/>
          </a:pPr>
          <a:r>
            <a:rPr lang="fr-FR" sz="2400" noProof="0" dirty="0"/>
            <a:t>Recherche d’amis</a:t>
          </a:r>
        </a:p>
      </dgm:t>
    </dgm:pt>
    <dgm:pt modelId="{9E5E6A80-9320-4FA2-8520-A8463D20BED0}" type="parTrans" cxnId="{0FD9563E-4347-4BD0-94CA-25A3C01C623D}">
      <dgm:prSet/>
      <dgm:spPr/>
      <dgm:t>
        <a:bodyPr/>
        <a:lstStyle/>
        <a:p>
          <a:endParaRPr lang="en-US"/>
        </a:p>
      </dgm:t>
    </dgm:pt>
    <dgm:pt modelId="{79890ADC-98FB-4B23-983C-043F18256EB7}" type="sibTrans" cxnId="{0FD9563E-4347-4BD0-94CA-25A3C01C623D}">
      <dgm:prSet/>
      <dgm:spPr/>
      <dgm:t>
        <a:bodyPr/>
        <a:lstStyle/>
        <a:p>
          <a:pPr>
            <a:lnSpc>
              <a:spcPct val="100000"/>
            </a:lnSpc>
            <a:defRPr b="1"/>
          </a:pPr>
          <a:endParaRPr lang="en-US"/>
        </a:p>
      </dgm:t>
    </dgm:pt>
    <dgm:pt modelId="{29734418-410B-49AD-AF04-43BCF00E548A}">
      <dgm:prSet custT="1"/>
      <dgm:spPr/>
      <dgm:t>
        <a:bodyPr/>
        <a:lstStyle/>
        <a:p>
          <a:pPr>
            <a:lnSpc>
              <a:spcPct val="100000"/>
            </a:lnSpc>
          </a:pPr>
          <a:r>
            <a:rPr lang="fr-FR" sz="1800" noProof="0" dirty="0"/>
            <a:t>Implémenter un système d’ID pourrait faciliter cet aspect et donc favoriser le lien social sur notre application.</a:t>
          </a:r>
        </a:p>
      </dgm:t>
    </dgm:pt>
    <dgm:pt modelId="{970E1EB3-24AC-4D74-9E7D-896CFDB5AE8B}" type="parTrans" cxnId="{96A71714-6701-4701-9FE7-D23B4DB7ACD1}">
      <dgm:prSet/>
      <dgm:spPr/>
      <dgm:t>
        <a:bodyPr/>
        <a:lstStyle/>
        <a:p>
          <a:endParaRPr lang="en-US"/>
        </a:p>
      </dgm:t>
    </dgm:pt>
    <dgm:pt modelId="{0E4C8374-E2E4-4155-900C-F284BFFF8085}" type="sibTrans" cxnId="{96A71714-6701-4701-9FE7-D23B4DB7ACD1}">
      <dgm:prSet/>
      <dgm:spPr/>
      <dgm:t>
        <a:bodyPr/>
        <a:lstStyle/>
        <a:p>
          <a:endParaRPr lang="en-US"/>
        </a:p>
      </dgm:t>
    </dgm:pt>
    <dgm:pt modelId="{C7DC616E-3BF3-4F0B-8C4C-C1277E6ED1D1}">
      <dgm:prSet custT="1"/>
      <dgm:spPr/>
      <dgm:t>
        <a:bodyPr/>
        <a:lstStyle/>
        <a:p>
          <a:pPr>
            <a:lnSpc>
              <a:spcPct val="100000"/>
            </a:lnSpc>
            <a:defRPr b="1"/>
          </a:pPr>
          <a:r>
            <a:rPr lang="fr-FR" sz="2400" noProof="0" dirty="0"/>
            <a:t>Moderniser certaines pages</a:t>
          </a:r>
        </a:p>
      </dgm:t>
    </dgm:pt>
    <dgm:pt modelId="{B0529049-5829-4E62-98E0-65AF69C4D053}" type="parTrans" cxnId="{FE30A170-0069-4D65-A1A2-22DFB2E127A9}">
      <dgm:prSet/>
      <dgm:spPr/>
      <dgm:t>
        <a:bodyPr/>
        <a:lstStyle/>
        <a:p>
          <a:endParaRPr lang="en-US"/>
        </a:p>
      </dgm:t>
    </dgm:pt>
    <dgm:pt modelId="{95371075-6925-4F54-B893-6685DF91E88F}" type="sibTrans" cxnId="{FE30A170-0069-4D65-A1A2-22DFB2E127A9}">
      <dgm:prSet/>
      <dgm:spPr/>
      <dgm:t>
        <a:bodyPr/>
        <a:lstStyle/>
        <a:p>
          <a:endParaRPr lang="en-US"/>
        </a:p>
      </dgm:t>
    </dgm:pt>
    <dgm:pt modelId="{BEEFB0AD-C494-4D5C-B59E-082799C0F50B}">
      <dgm:prSet custT="1"/>
      <dgm:spPr/>
      <dgm:t>
        <a:bodyPr/>
        <a:lstStyle/>
        <a:p>
          <a:pPr>
            <a:lnSpc>
              <a:spcPct val="100000"/>
            </a:lnSpc>
          </a:pPr>
          <a:r>
            <a:rPr lang="fr-FR" sz="1800" noProof="0" dirty="0"/>
            <a:t>Certaines pages du sites web n’ont pas été moderniser à temps ainsi il faudrait pouvoir reprendre le style et les optimiser.</a:t>
          </a:r>
        </a:p>
      </dgm:t>
    </dgm:pt>
    <dgm:pt modelId="{F7DFE966-1BC7-4ED7-A2F7-BB1CD409EF82}" type="parTrans" cxnId="{68FBCB39-53F7-4FB7-8DBA-0B4D2B32F415}">
      <dgm:prSet/>
      <dgm:spPr/>
      <dgm:t>
        <a:bodyPr/>
        <a:lstStyle/>
        <a:p>
          <a:endParaRPr lang="en-US"/>
        </a:p>
      </dgm:t>
    </dgm:pt>
    <dgm:pt modelId="{9B05E951-AE8E-4C28-BDA4-3F9437FC1BD3}" type="sibTrans" cxnId="{68FBCB39-53F7-4FB7-8DBA-0B4D2B32F415}">
      <dgm:prSet/>
      <dgm:spPr/>
      <dgm:t>
        <a:bodyPr/>
        <a:lstStyle/>
        <a:p>
          <a:endParaRPr lang="en-US"/>
        </a:p>
      </dgm:t>
    </dgm:pt>
    <dgm:pt modelId="{A47364B2-BB0C-474A-AE7D-FE0D41B4ECA0}" type="pres">
      <dgm:prSet presAssocID="{0505A37F-3EAD-4416-93E1-ED93A29979E7}" presName="Name0" presStyleCnt="0">
        <dgm:presLayoutVars>
          <dgm:dir/>
          <dgm:resizeHandles val="exact"/>
        </dgm:presLayoutVars>
      </dgm:prSet>
      <dgm:spPr/>
    </dgm:pt>
    <dgm:pt modelId="{0FD81B03-ABFC-40A4-9C48-CF81B51E2981}" type="pres">
      <dgm:prSet presAssocID="{9537E6B6-7DC2-473B-B392-644A2981CB80}" presName="compNode" presStyleCnt="0"/>
      <dgm:spPr/>
    </dgm:pt>
    <dgm:pt modelId="{15EC09E0-1310-4162-BF8D-CA0F2C07E7BE}" type="pres">
      <dgm:prSet presAssocID="{9537E6B6-7DC2-473B-B392-644A2981CB80}" presName="pictRect" presStyleLbl="revTx" presStyleIdx="0" presStyleCnt="8">
        <dgm:presLayoutVars>
          <dgm:chMax val="0"/>
          <dgm:bulletEnabled/>
        </dgm:presLayoutVars>
      </dgm:prSet>
      <dgm:spPr/>
    </dgm:pt>
    <dgm:pt modelId="{88D0B042-4AC9-41AF-8F80-0CAC83D9003C}" type="pres">
      <dgm:prSet presAssocID="{9537E6B6-7DC2-473B-B392-644A2981CB80}" presName="textRect" presStyleLbl="revTx" presStyleIdx="1" presStyleCnt="8">
        <dgm:presLayoutVars>
          <dgm:bulletEnabled/>
        </dgm:presLayoutVars>
      </dgm:prSet>
      <dgm:spPr/>
    </dgm:pt>
    <dgm:pt modelId="{448BD6E5-3866-44D9-AFB4-73912F7018B8}" type="pres">
      <dgm:prSet presAssocID="{8AD05E4D-84DC-4D46-9D8F-6992A62BCA21}" presName="sibTrans" presStyleLbl="sibTrans2D1" presStyleIdx="0" presStyleCnt="0"/>
      <dgm:spPr/>
    </dgm:pt>
    <dgm:pt modelId="{0BFBFDE1-4A1B-44A3-81CD-E9A4E70FD3CE}" type="pres">
      <dgm:prSet presAssocID="{81288325-6268-48D0-9108-128EA14AE0AF}" presName="compNode" presStyleCnt="0"/>
      <dgm:spPr/>
    </dgm:pt>
    <dgm:pt modelId="{D589AC48-DB75-4C34-B819-F3D6E56763A1}" type="pres">
      <dgm:prSet presAssocID="{81288325-6268-48D0-9108-128EA14AE0AF}" presName="pictRect" presStyleLbl="revTx" presStyleIdx="2" presStyleCnt="8">
        <dgm:presLayoutVars>
          <dgm:chMax val="0"/>
          <dgm:bulletEnabled/>
        </dgm:presLayoutVars>
      </dgm:prSet>
      <dgm:spPr/>
    </dgm:pt>
    <dgm:pt modelId="{B631821D-A2B5-47DF-A26C-5562BD57883A}" type="pres">
      <dgm:prSet presAssocID="{81288325-6268-48D0-9108-128EA14AE0AF}" presName="textRect" presStyleLbl="revTx" presStyleIdx="3" presStyleCnt="8">
        <dgm:presLayoutVars>
          <dgm:bulletEnabled/>
        </dgm:presLayoutVars>
      </dgm:prSet>
      <dgm:spPr/>
    </dgm:pt>
    <dgm:pt modelId="{A6669C68-890D-4E30-A63F-829556C347DB}" type="pres">
      <dgm:prSet presAssocID="{240149A7-072C-4EB9-97ED-5A5E59DDFDCD}" presName="sibTrans" presStyleLbl="sibTrans2D1" presStyleIdx="0" presStyleCnt="0"/>
      <dgm:spPr/>
    </dgm:pt>
    <dgm:pt modelId="{EC08877E-3619-416D-969E-0DA7FC29DAA9}" type="pres">
      <dgm:prSet presAssocID="{E6B57EDD-60C2-46A3-A9C3-DA3C04388845}" presName="compNode" presStyleCnt="0"/>
      <dgm:spPr/>
    </dgm:pt>
    <dgm:pt modelId="{429D8E8A-1006-455B-B910-E1FA4F6CF6A5}" type="pres">
      <dgm:prSet presAssocID="{E6B57EDD-60C2-46A3-A9C3-DA3C04388845}" presName="pictRect" presStyleLbl="revTx" presStyleIdx="4" presStyleCnt="8">
        <dgm:presLayoutVars>
          <dgm:chMax val="0"/>
          <dgm:bulletEnabled/>
        </dgm:presLayoutVars>
      </dgm:prSet>
      <dgm:spPr/>
    </dgm:pt>
    <dgm:pt modelId="{4FD3ED0C-ED98-4D93-B0C8-092D82E15054}" type="pres">
      <dgm:prSet presAssocID="{E6B57EDD-60C2-46A3-A9C3-DA3C04388845}" presName="textRect" presStyleLbl="revTx" presStyleIdx="5" presStyleCnt="8">
        <dgm:presLayoutVars>
          <dgm:bulletEnabled/>
        </dgm:presLayoutVars>
      </dgm:prSet>
      <dgm:spPr/>
    </dgm:pt>
    <dgm:pt modelId="{9B84C4EA-FB22-4C3D-AA15-FD8561AE92A3}" type="pres">
      <dgm:prSet presAssocID="{79890ADC-98FB-4B23-983C-043F18256EB7}" presName="sibTrans" presStyleLbl="sibTrans2D1" presStyleIdx="0" presStyleCnt="0"/>
      <dgm:spPr/>
    </dgm:pt>
    <dgm:pt modelId="{DBCA98B5-9CB2-46AB-A838-4857745F04E8}" type="pres">
      <dgm:prSet presAssocID="{C7DC616E-3BF3-4F0B-8C4C-C1277E6ED1D1}" presName="compNode" presStyleCnt="0"/>
      <dgm:spPr/>
    </dgm:pt>
    <dgm:pt modelId="{AE6E8BD6-92B7-4B75-B792-0222528423FD}" type="pres">
      <dgm:prSet presAssocID="{C7DC616E-3BF3-4F0B-8C4C-C1277E6ED1D1}" presName="pictRect" presStyleLbl="revTx" presStyleIdx="6" presStyleCnt="8">
        <dgm:presLayoutVars>
          <dgm:chMax val="0"/>
          <dgm:bulletEnabled/>
        </dgm:presLayoutVars>
      </dgm:prSet>
      <dgm:spPr/>
    </dgm:pt>
    <dgm:pt modelId="{8C83BCF4-5857-4BB9-893A-81016A8FF140}" type="pres">
      <dgm:prSet presAssocID="{C7DC616E-3BF3-4F0B-8C4C-C1277E6ED1D1}" presName="textRect" presStyleLbl="revTx" presStyleIdx="7" presStyleCnt="8">
        <dgm:presLayoutVars>
          <dgm:bulletEnabled/>
        </dgm:presLayoutVars>
      </dgm:prSet>
      <dgm:spPr/>
    </dgm:pt>
  </dgm:ptLst>
  <dgm:cxnLst>
    <dgm:cxn modelId="{047FF905-65A6-4115-8DEB-79AC97D06A28}" srcId="{9537E6B6-7DC2-473B-B392-644A2981CB80}" destId="{DDD15A4C-B482-4B20-B739-C4E83CA0396C}" srcOrd="0" destOrd="0" parTransId="{A53AE6AB-E835-455E-8569-5AC1A65AD946}" sibTransId="{EDE6F3D5-A10F-4458-A00D-9B72F975AC6D}"/>
    <dgm:cxn modelId="{5EA58013-9546-4914-A47A-3C4DBEC78983}" type="presOf" srcId="{27701A10-0123-464A-8B83-11302A4694EE}" destId="{B631821D-A2B5-47DF-A26C-5562BD57883A}" srcOrd="0" destOrd="0" presId="urn:microsoft.com/office/officeart/2024/3/layout/hArchList1"/>
    <dgm:cxn modelId="{96A71714-6701-4701-9FE7-D23B4DB7ACD1}" srcId="{E6B57EDD-60C2-46A3-A9C3-DA3C04388845}" destId="{29734418-410B-49AD-AF04-43BCF00E548A}" srcOrd="0" destOrd="0" parTransId="{970E1EB3-24AC-4D74-9E7D-896CFDB5AE8B}" sibTransId="{0E4C8374-E2E4-4155-900C-F284BFFF8085}"/>
    <dgm:cxn modelId="{68FBCB39-53F7-4FB7-8DBA-0B4D2B32F415}" srcId="{C7DC616E-3BF3-4F0B-8C4C-C1277E6ED1D1}" destId="{BEEFB0AD-C494-4D5C-B59E-082799C0F50B}" srcOrd="0" destOrd="0" parTransId="{F7DFE966-1BC7-4ED7-A2F7-BB1CD409EF82}" sibTransId="{9B05E951-AE8E-4C28-BDA4-3F9437FC1BD3}"/>
    <dgm:cxn modelId="{0FD9563E-4347-4BD0-94CA-25A3C01C623D}" srcId="{0505A37F-3EAD-4416-93E1-ED93A29979E7}" destId="{E6B57EDD-60C2-46A3-A9C3-DA3C04388845}" srcOrd="2" destOrd="0" parTransId="{9E5E6A80-9320-4FA2-8520-A8463D20BED0}" sibTransId="{79890ADC-98FB-4B23-983C-043F18256EB7}"/>
    <dgm:cxn modelId="{27326C5F-3463-4C51-A851-3FD0D80DD24E}" type="presOf" srcId="{E6B57EDD-60C2-46A3-A9C3-DA3C04388845}" destId="{429D8E8A-1006-455B-B910-E1FA4F6CF6A5}" srcOrd="0" destOrd="0" presId="urn:microsoft.com/office/officeart/2024/3/layout/hArchList1"/>
    <dgm:cxn modelId="{D7DDD360-F460-46F4-BC0C-6912AB0DC00B}" type="presOf" srcId="{0505A37F-3EAD-4416-93E1-ED93A29979E7}" destId="{A47364B2-BB0C-474A-AE7D-FE0D41B4ECA0}" srcOrd="0" destOrd="0" presId="urn:microsoft.com/office/officeart/2024/3/layout/hArchList1"/>
    <dgm:cxn modelId="{F6F1AB43-9811-47B6-937E-0D0E87EC8E78}" type="presOf" srcId="{240149A7-072C-4EB9-97ED-5A5E59DDFDCD}" destId="{A6669C68-890D-4E30-A63F-829556C347DB}" srcOrd="0" destOrd="0" presId="urn:microsoft.com/office/officeart/2024/3/layout/hArchList1"/>
    <dgm:cxn modelId="{123A434A-4007-41F2-B613-B3FC330EA4D2}" srcId="{81288325-6268-48D0-9108-128EA14AE0AF}" destId="{27701A10-0123-464A-8B83-11302A4694EE}" srcOrd="0" destOrd="0" parTransId="{D8BA504F-9569-44F7-9C97-1C7AE3CE012F}" sibTransId="{5594E9B9-13F8-44AB-820E-50D6B1B71540}"/>
    <dgm:cxn modelId="{FE30A170-0069-4D65-A1A2-22DFB2E127A9}" srcId="{0505A37F-3EAD-4416-93E1-ED93A29979E7}" destId="{C7DC616E-3BF3-4F0B-8C4C-C1277E6ED1D1}" srcOrd="3" destOrd="0" parTransId="{B0529049-5829-4E62-98E0-65AF69C4D053}" sibTransId="{95371075-6925-4F54-B893-6685DF91E88F}"/>
    <dgm:cxn modelId="{3BA2DF70-1D2B-47A9-8D8D-6572E896EA55}" type="presOf" srcId="{BEEFB0AD-C494-4D5C-B59E-082799C0F50B}" destId="{8C83BCF4-5857-4BB9-893A-81016A8FF140}" srcOrd="0" destOrd="0" presId="urn:microsoft.com/office/officeart/2024/3/layout/hArchList1"/>
    <dgm:cxn modelId="{D4F7BC88-F57D-4D35-A9FA-324FCF3EA870}" type="presOf" srcId="{C7DC616E-3BF3-4F0B-8C4C-C1277E6ED1D1}" destId="{AE6E8BD6-92B7-4B75-B792-0222528423FD}" srcOrd="0" destOrd="0" presId="urn:microsoft.com/office/officeart/2024/3/layout/hArchList1"/>
    <dgm:cxn modelId="{A185018A-C01C-46B6-B339-15766F398D46}" type="presOf" srcId="{29734418-410B-49AD-AF04-43BCF00E548A}" destId="{4FD3ED0C-ED98-4D93-B0C8-092D82E15054}" srcOrd="0" destOrd="0" presId="urn:microsoft.com/office/officeart/2024/3/layout/hArchList1"/>
    <dgm:cxn modelId="{2336D89A-3667-4403-BF4B-C49A69A6210B}" srcId="{0505A37F-3EAD-4416-93E1-ED93A29979E7}" destId="{9537E6B6-7DC2-473B-B392-644A2981CB80}" srcOrd="0" destOrd="0" parTransId="{1407531E-0A92-4EDC-82F2-5C7584C7F487}" sibTransId="{8AD05E4D-84DC-4D46-9D8F-6992A62BCA21}"/>
    <dgm:cxn modelId="{C0E86AAB-80C8-461A-8670-0E84DF538176}" type="presOf" srcId="{DDD15A4C-B482-4B20-B739-C4E83CA0396C}" destId="{88D0B042-4AC9-41AF-8F80-0CAC83D9003C}" srcOrd="0" destOrd="0" presId="urn:microsoft.com/office/officeart/2024/3/layout/hArchList1"/>
    <dgm:cxn modelId="{4AFE99BD-BE9D-479A-961F-7A1B2B81637B}" type="presOf" srcId="{9537E6B6-7DC2-473B-B392-644A2981CB80}" destId="{15EC09E0-1310-4162-BF8D-CA0F2C07E7BE}" srcOrd="0" destOrd="0" presId="urn:microsoft.com/office/officeart/2024/3/layout/hArchList1"/>
    <dgm:cxn modelId="{BF5B37C3-6FD6-4C75-B890-F83DDC7380CC}" type="presOf" srcId="{81288325-6268-48D0-9108-128EA14AE0AF}" destId="{D589AC48-DB75-4C34-B819-F3D6E56763A1}" srcOrd="0" destOrd="0" presId="urn:microsoft.com/office/officeart/2024/3/layout/hArchList1"/>
    <dgm:cxn modelId="{A98A92C5-C422-41C3-901A-1452BD5E475F}" type="presOf" srcId="{8AD05E4D-84DC-4D46-9D8F-6992A62BCA21}" destId="{448BD6E5-3866-44D9-AFB4-73912F7018B8}" srcOrd="0" destOrd="0" presId="urn:microsoft.com/office/officeart/2024/3/layout/hArchList1"/>
    <dgm:cxn modelId="{6C00FCCC-7979-4E34-9F08-C46E9FACB5EB}" type="presOf" srcId="{79890ADC-98FB-4B23-983C-043F18256EB7}" destId="{9B84C4EA-FB22-4C3D-AA15-FD8561AE92A3}" srcOrd="0" destOrd="0" presId="urn:microsoft.com/office/officeart/2024/3/layout/hArchList1"/>
    <dgm:cxn modelId="{289C8CF4-FC3E-4093-B095-1915F668C9EB}" srcId="{0505A37F-3EAD-4416-93E1-ED93A29979E7}" destId="{81288325-6268-48D0-9108-128EA14AE0AF}" srcOrd="1" destOrd="0" parTransId="{3B71784E-4674-4086-82AE-AE63C9C09553}" sibTransId="{240149A7-072C-4EB9-97ED-5A5E59DDFDCD}"/>
    <dgm:cxn modelId="{671C72D5-8020-44B4-A334-1AF89509A805}" type="presParOf" srcId="{A47364B2-BB0C-474A-AE7D-FE0D41B4ECA0}" destId="{0FD81B03-ABFC-40A4-9C48-CF81B51E2981}" srcOrd="0" destOrd="0" presId="urn:microsoft.com/office/officeart/2024/3/layout/hArchList1"/>
    <dgm:cxn modelId="{2A2C9C90-1037-41DE-B68D-AD190FE56C52}" type="presParOf" srcId="{0FD81B03-ABFC-40A4-9C48-CF81B51E2981}" destId="{15EC09E0-1310-4162-BF8D-CA0F2C07E7BE}" srcOrd="0" destOrd="0" presId="urn:microsoft.com/office/officeart/2024/3/layout/hArchList1"/>
    <dgm:cxn modelId="{3DAE6485-6B36-4DD4-B3F4-A6DB00A58CE7}" type="presParOf" srcId="{0FD81B03-ABFC-40A4-9C48-CF81B51E2981}" destId="{88D0B042-4AC9-41AF-8F80-0CAC83D9003C}" srcOrd="1" destOrd="0" presId="urn:microsoft.com/office/officeart/2024/3/layout/hArchList1"/>
    <dgm:cxn modelId="{2D9EC52F-9B67-45BD-A3CE-ABA3803FA062}" type="presParOf" srcId="{A47364B2-BB0C-474A-AE7D-FE0D41B4ECA0}" destId="{448BD6E5-3866-44D9-AFB4-73912F7018B8}" srcOrd="1" destOrd="0" presId="urn:microsoft.com/office/officeart/2024/3/layout/hArchList1"/>
    <dgm:cxn modelId="{436293FC-ADDA-4271-8D28-2FD2C18ADA2F}" type="presParOf" srcId="{A47364B2-BB0C-474A-AE7D-FE0D41B4ECA0}" destId="{0BFBFDE1-4A1B-44A3-81CD-E9A4E70FD3CE}" srcOrd="2" destOrd="0" presId="urn:microsoft.com/office/officeart/2024/3/layout/hArchList1"/>
    <dgm:cxn modelId="{501DC7E0-5A46-44C9-9194-44D158B25F71}" type="presParOf" srcId="{0BFBFDE1-4A1B-44A3-81CD-E9A4E70FD3CE}" destId="{D589AC48-DB75-4C34-B819-F3D6E56763A1}" srcOrd="0" destOrd="0" presId="urn:microsoft.com/office/officeart/2024/3/layout/hArchList1"/>
    <dgm:cxn modelId="{9B1B81A7-01E4-4FEF-98E4-B49B3FCC1A92}" type="presParOf" srcId="{0BFBFDE1-4A1B-44A3-81CD-E9A4E70FD3CE}" destId="{B631821D-A2B5-47DF-A26C-5562BD57883A}" srcOrd="1" destOrd="0" presId="urn:microsoft.com/office/officeart/2024/3/layout/hArchList1"/>
    <dgm:cxn modelId="{F9D2BF14-A240-4F35-93BB-C904C6ACE5EA}" type="presParOf" srcId="{A47364B2-BB0C-474A-AE7D-FE0D41B4ECA0}" destId="{A6669C68-890D-4E30-A63F-829556C347DB}" srcOrd="3" destOrd="0" presId="urn:microsoft.com/office/officeart/2024/3/layout/hArchList1"/>
    <dgm:cxn modelId="{D5ECD51A-1E79-45EC-B7C5-A21E84771F06}" type="presParOf" srcId="{A47364B2-BB0C-474A-AE7D-FE0D41B4ECA0}" destId="{EC08877E-3619-416D-969E-0DA7FC29DAA9}" srcOrd="4" destOrd="0" presId="urn:microsoft.com/office/officeart/2024/3/layout/hArchList1"/>
    <dgm:cxn modelId="{7FBE16C3-3BDC-47C3-9D91-DF3C3811E554}" type="presParOf" srcId="{EC08877E-3619-416D-969E-0DA7FC29DAA9}" destId="{429D8E8A-1006-455B-B910-E1FA4F6CF6A5}" srcOrd="0" destOrd="0" presId="urn:microsoft.com/office/officeart/2024/3/layout/hArchList1"/>
    <dgm:cxn modelId="{5119B789-C150-4BDC-BB5D-787AA0A7C026}" type="presParOf" srcId="{EC08877E-3619-416D-969E-0DA7FC29DAA9}" destId="{4FD3ED0C-ED98-4D93-B0C8-092D82E15054}" srcOrd="1" destOrd="0" presId="urn:microsoft.com/office/officeart/2024/3/layout/hArchList1"/>
    <dgm:cxn modelId="{84908565-915F-4A85-85FE-CEEC5158BCA5}" type="presParOf" srcId="{A47364B2-BB0C-474A-AE7D-FE0D41B4ECA0}" destId="{9B84C4EA-FB22-4C3D-AA15-FD8561AE92A3}" srcOrd="5" destOrd="0" presId="urn:microsoft.com/office/officeart/2024/3/layout/hArchList1"/>
    <dgm:cxn modelId="{02C08428-600E-4D5E-98EC-CD1926CC8E20}" type="presParOf" srcId="{A47364B2-BB0C-474A-AE7D-FE0D41B4ECA0}" destId="{DBCA98B5-9CB2-46AB-A838-4857745F04E8}" srcOrd="6" destOrd="0" presId="urn:microsoft.com/office/officeart/2024/3/layout/hArchList1"/>
    <dgm:cxn modelId="{6C3E5BDE-A5D0-4A76-9531-4583A3957CF9}" type="presParOf" srcId="{DBCA98B5-9CB2-46AB-A838-4857745F04E8}" destId="{AE6E8BD6-92B7-4B75-B792-0222528423FD}" srcOrd="0" destOrd="0" presId="urn:microsoft.com/office/officeart/2024/3/layout/hArchList1"/>
    <dgm:cxn modelId="{21DA91A2-E391-4D04-BFA8-65779F9495C5}" type="presParOf" srcId="{DBCA98B5-9CB2-46AB-A838-4857745F04E8}" destId="{8C83BCF4-5857-4BB9-893A-81016A8FF140}"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C09E0-1310-4162-BF8D-CA0F2C07E7BE}">
      <dsp:nvSpPr>
        <dsp:cNvPr id="0" name=""/>
        <dsp:cNvSpPr/>
      </dsp:nvSpPr>
      <dsp:spPr>
        <a:xfrm>
          <a:off x="0" y="0"/>
          <a:ext cx="2528689" cy="83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fr-FR" sz="2400" kern="1200" noProof="0" dirty="0"/>
            <a:t>Sécurité sociale</a:t>
          </a:r>
        </a:p>
      </dsp:txBody>
      <dsp:txXfrm>
        <a:off x="0" y="0"/>
        <a:ext cx="2528689" cy="830214"/>
      </dsp:txXfrm>
    </dsp:sp>
    <dsp:sp modelId="{88D0B042-4AC9-41AF-8F80-0CAC83D9003C}">
      <dsp:nvSpPr>
        <dsp:cNvPr id="0" name=""/>
        <dsp:cNvSpPr/>
      </dsp:nvSpPr>
      <dsp:spPr>
        <a:xfrm>
          <a:off x="0" y="830214"/>
          <a:ext cx="2528689" cy="2000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pPr>
          <a:r>
            <a:rPr lang="fr-FR" sz="1800" kern="1200" noProof="0" dirty="0"/>
            <a:t>L’application n’est aujourd’hui pas équipe de fonctionnalité pour bloquer un utilisateur. </a:t>
          </a:r>
        </a:p>
      </dsp:txBody>
      <dsp:txXfrm>
        <a:off x="0" y="830214"/>
        <a:ext cx="2528689" cy="2000097"/>
      </dsp:txXfrm>
    </dsp:sp>
    <dsp:sp modelId="{D589AC48-DB75-4C34-B819-F3D6E56763A1}">
      <dsp:nvSpPr>
        <dsp:cNvPr id="0" name=""/>
        <dsp:cNvSpPr/>
      </dsp:nvSpPr>
      <dsp:spPr>
        <a:xfrm>
          <a:off x="2781558" y="0"/>
          <a:ext cx="2528689" cy="83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fr-FR" sz="2400" kern="1200" noProof="0" dirty="0"/>
            <a:t>Ajout de lieu en favoris</a:t>
          </a:r>
        </a:p>
      </dsp:txBody>
      <dsp:txXfrm>
        <a:off x="2781558" y="0"/>
        <a:ext cx="2528689" cy="830214"/>
      </dsp:txXfrm>
    </dsp:sp>
    <dsp:sp modelId="{B631821D-A2B5-47DF-A26C-5562BD57883A}">
      <dsp:nvSpPr>
        <dsp:cNvPr id="0" name=""/>
        <dsp:cNvSpPr/>
      </dsp:nvSpPr>
      <dsp:spPr>
        <a:xfrm>
          <a:off x="2781558" y="830214"/>
          <a:ext cx="2528689" cy="2000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pPr>
          <a:r>
            <a:rPr lang="fr-FR" sz="1800" kern="1200" noProof="0" dirty="0"/>
            <a:t>Cette fonctionnalité ne marche actuellement plus. Ainsi il serait bien de la réimplémenter pour améliorer l’expérience utilisateur.</a:t>
          </a:r>
        </a:p>
      </dsp:txBody>
      <dsp:txXfrm>
        <a:off x="2781558" y="830214"/>
        <a:ext cx="2528689" cy="2000097"/>
      </dsp:txXfrm>
    </dsp:sp>
    <dsp:sp modelId="{429D8E8A-1006-455B-B910-E1FA4F6CF6A5}">
      <dsp:nvSpPr>
        <dsp:cNvPr id="0" name=""/>
        <dsp:cNvSpPr/>
      </dsp:nvSpPr>
      <dsp:spPr>
        <a:xfrm>
          <a:off x="5563116" y="0"/>
          <a:ext cx="2528689" cy="83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fr-FR" sz="2400" kern="1200" noProof="0" dirty="0"/>
            <a:t>Recherche d’amis</a:t>
          </a:r>
        </a:p>
      </dsp:txBody>
      <dsp:txXfrm>
        <a:off x="5563116" y="0"/>
        <a:ext cx="2528689" cy="830214"/>
      </dsp:txXfrm>
    </dsp:sp>
    <dsp:sp modelId="{4FD3ED0C-ED98-4D93-B0C8-092D82E15054}">
      <dsp:nvSpPr>
        <dsp:cNvPr id="0" name=""/>
        <dsp:cNvSpPr/>
      </dsp:nvSpPr>
      <dsp:spPr>
        <a:xfrm>
          <a:off x="5563116" y="830214"/>
          <a:ext cx="2528689" cy="2000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pPr>
          <a:r>
            <a:rPr lang="fr-FR" sz="1800" kern="1200" noProof="0" dirty="0"/>
            <a:t>Implémenter un système d’ID pourrait faciliter cet aspect et donc favoriser le lien social sur notre application.</a:t>
          </a:r>
        </a:p>
      </dsp:txBody>
      <dsp:txXfrm>
        <a:off x="5563116" y="830214"/>
        <a:ext cx="2528689" cy="2000097"/>
      </dsp:txXfrm>
    </dsp:sp>
    <dsp:sp modelId="{AE6E8BD6-92B7-4B75-B792-0222528423FD}">
      <dsp:nvSpPr>
        <dsp:cNvPr id="0" name=""/>
        <dsp:cNvSpPr/>
      </dsp:nvSpPr>
      <dsp:spPr>
        <a:xfrm>
          <a:off x="8344674" y="0"/>
          <a:ext cx="2528689" cy="83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fr-FR" sz="2400" kern="1200" noProof="0" dirty="0"/>
            <a:t>Moderniser certaines pages</a:t>
          </a:r>
        </a:p>
      </dsp:txBody>
      <dsp:txXfrm>
        <a:off x="8344674" y="0"/>
        <a:ext cx="2528689" cy="830214"/>
      </dsp:txXfrm>
    </dsp:sp>
    <dsp:sp modelId="{8C83BCF4-5857-4BB9-893A-81016A8FF140}">
      <dsp:nvSpPr>
        <dsp:cNvPr id="0" name=""/>
        <dsp:cNvSpPr/>
      </dsp:nvSpPr>
      <dsp:spPr>
        <a:xfrm>
          <a:off x="8344674" y="830214"/>
          <a:ext cx="2528689" cy="2000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pPr>
          <a:r>
            <a:rPr lang="fr-FR" sz="1800" kern="1200" noProof="0" dirty="0"/>
            <a:t>Certaines pages du sites web n’ont pas été moderniser à temps ainsi il faudrait pouvoir reprendre le style et les optimiser.</a:t>
          </a:r>
        </a:p>
      </dsp:txBody>
      <dsp:txXfrm>
        <a:off x="8344674" y="830214"/>
        <a:ext cx="2528689" cy="2000097"/>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E1DA11F-55C6-8168-9F1D-352D08E578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6EE7E05-B9CC-C4CA-B23C-C3BD05D253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DDBF88-08B1-4821-B4AC-7B0E9EFCDC53}" type="datetimeFigureOut">
              <a:rPr lang="fr-FR" smtClean="0"/>
              <a:t>01/04/2026</a:t>
            </a:fld>
            <a:endParaRPr lang="fr-FR"/>
          </a:p>
        </p:txBody>
      </p:sp>
      <p:sp>
        <p:nvSpPr>
          <p:cNvPr id="4" name="Espace réservé du pied de page 3">
            <a:extLst>
              <a:ext uri="{FF2B5EF4-FFF2-40B4-BE49-F238E27FC236}">
                <a16:creationId xmlns:a16="http://schemas.microsoft.com/office/drawing/2014/main" id="{34312423-BB35-B5FF-1442-3526AC139A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F03BF31-4FD0-A2B0-DC68-91AAA10C086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E7BC6-FD3C-41DE-B311-B7742FDC1CF0}" type="slidenum">
              <a:rPr lang="fr-FR" smtClean="0"/>
              <a:t>‹N°›</a:t>
            </a:fld>
            <a:endParaRPr lang="fr-FR"/>
          </a:p>
        </p:txBody>
      </p:sp>
    </p:spTree>
    <p:extLst>
      <p:ext uri="{BB962C8B-B14F-4D97-AF65-F5344CB8AC3E}">
        <p14:creationId xmlns:p14="http://schemas.microsoft.com/office/powerpoint/2010/main" val="50925457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E680FF-45DC-40F5-8CD1-21E1C89125C9}" type="datetimeFigureOut">
              <a:rPr lang="fr-FR" smtClean="0"/>
              <a:t>01/04/2026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E8DA55-E8D2-4ADA-996E-EB1045687701}" type="slidenum">
              <a:rPr lang="fr-FR" smtClean="0"/>
              <a:t>‹N°›</a:t>
            </a:fld>
            <a:endParaRPr lang="fr-FR"/>
          </a:p>
        </p:txBody>
      </p:sp>
    </p:spTree>
    <p:extLst>
      <p:ext uri="{BB962C8B-B14F-4D97-AF65-F5344CB8AC3E}">
        <p14:creationId xmlns:p14="http://schemas.microsoft.com/office/powerpoint/2010/main" val="15724775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présentation vous dévoilera Trips &amp; </a:t>
            </a:r>
            <a:r>
              <a:rPr lang="fr-FR" dirty="0" err="1"/>
              <a:t>Roads</a:t>
            </a:r>
            <a:r>
              <a:rPr lang="fr-FR" dirty="0"/>
              <a:t>, une application innovante conçue pour faciliter la planification, la gestion et le partage de road trips. Nous explorerons ses objectifs, ses fonctionnalités, sa dimension sociale, son accessibilité et l’architecture technique qui la soutient.
</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1</a:t>
            </a:fld>
            <a:endParaRPr lang="fr-FR"/>
          </a:p>
        </p:txBody>
      </p:sp>
      <p:sp>
        <p:nvSpPr>
          <p:cNvPr id="5" name="Espace réservé du pied de page 4">
            <a:extLst>
              <a:ext uri="{FF2B5EF4-FFF2-40B4-BE49-F238E27FC236}">
                <a16:creationId xmlns:a16="http://schemas.microsoft.com/office/drawing/2014/main" id="{BD1B7739-772C-BA0A-DE0A-3256D3558E3A}"/>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2460139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aborderons d'abord le concept et les objectifs de Trips &amp; </a:t>
            </a:r>
            <a:r>
              <a:rPr lang="fr-FR" dirty="0" err="1"/>
              <a:t>Roads</a:t>
            </a:r>
            <a:r>
              <a:rPr lang="fr-FR" dirty="0"/>
              <a:t>, puis ses fonctionnalités principales. Ensuite, nous verrons la dimension sociale, l’accessibilité et l’expérience utilisateur. Enfin, nous conclurons avec l’architecture technique et la gestion de projet.</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2</a:t>
            </a:fld>
            <a:endParaRPr lang="fr-FR"/>
          </a:p>
        </p:txBody>
      </p:sp>
      <p:sp>
        <p:nvSpPr>
          <p:cNvPr id="5" name="Espace réservé du pied de page 4">
            <a:extLst>
              <a:ext uri="{FF2B5EF4-FFF2-40B4-BE49-F238E27FC236}">
                <a16:creationId xmlns:a16="http://schemas.microsoft.com/office/drawing/2014/main" id="{2616B2DB-B493-E256-6EE7-67DC2BAB013A}"/>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2592461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Trips &amp; Roads répond aux besoins des voyageurs modernes en proposant une plateforme centralisée. Elle vise à simplifier la gestion des road trips tout en favorisant la collaboration et le partage d’expériences authentiques entre utilisateurs.</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3</a:t>
            </a:fld>
            <a:endParaRPr lang="fr-FR"/>
          </a:p>
        </p:txBody>
      </p:sp>
      <p:sp>
        <p:nvSpPr>
          <p:cNvPr id="5" name="Espace réservé du pied de page 4">
            <a:extLst>
              <a:ext uri="{FF2B5EF4-FFF2-40B4-BE49-F238E27FC236}">
                <a16:creationId xmlns:a16="http://schemas.microsoft.com/office/drawing/2014/main" id="{553676EB-17B2-57B7-014C-8C691A15038E}"/>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693878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Les voyageurs cherchent des solutions flexibles, collaboratives et mobiles pour organiser leurs road trips. Ils ont besoin d’outils simples et intuitifs pour planifier, ajuster et partager leurs itinéraires en temps réel et en toute simplicité.
</a:t>
            </a:r>
          </a:p>
          <a:p>
            <a:endParaRPr lang="fr-FR" dirty="0"/>
          </a:p>
          <a:p>
            <a:pPr marL="0" indent="0">
              <a:spcBef>
                <a:spcPts val="2500"/>
              </a:spcBef>
              <a:spcAft>
                <a:spcPts val="600"/>
              </a:spcAft>
              <a:buFont typeface="Arial" panose="020B0604020202020204" pitchFamily="34" charset="0"/>
              <a:buNone/>
            </a:pPr>
            <a:r>
              <a:rPr lang="fr-FR" sz="1600" b="1" dirty="0"/>
              <a:t>Solutions flexibles</a:t>
            </a:r>
          </a:p>
          <a:p>
            <a:pPr marL="0" lvl="1" indent="0">
              <a:spcBef>
                <a:spcPts val="1000"/>
              </a:spcBef>
              <a:spcAft>
                <a:spcPts val="600"/>
              </a:spcAft>
              <a:buFont typeface="Arial" panose="020B0604020202020204" pitchFamily="34" charset="0"/>
              <a:buNone/>
            </a:pPr>
            <a:r>
              <a:rPr lang="fr-FR" sz="1600" dirty="0"/>
              <a:t>Les voyageurs modernes recherchent des solutions adaptables qui s'ajustent facilement à leurs plans changeants durant les road trips.</a:t>
            </a:r>
          </a:p>
          <a:p>
            <a:pPr marL="0" indent="0">
              <a:spcBef>
                <a:spcPts val="2500"/>
              </a:spcBef>
              <a:spcAft>
                <a:spcPts val="600"/>
              </a:spcAft>
              <a:buFont typeface="Arial" panose="020B0604020202020204" pitchFamily="34" charset="0"/>
              <a:buNone/>
            </a:pPr>
            <a:r>
              <a:rPr lang="fr-FR" sz="1600" b="1" dirty="0"/>
              <a:t>Interface intuitive</a:t>
            </a:r>
          </a:p>
          <a:p>
            <a:pPr marL="0" lvl="1" indent="0">
              <a:spcBef>
                <a:spcPts val="1000"/>
              </a:spcBef>
              <a:spcAft>
                <a:spcPts val="600"/>
              </a:spcAft>
              <a:buFont typeface="Arial" panose="020B0604020202020204" pitchFamily="34" charset="0"/>
              <a:buNone/>
            </a:pPr>
            <a:r>
              <a:rPr lang="fr-FR" sz="1600" dirty="0"/>
              <a:t>Des interfaces simples et intuitives facilitent la planification, l’ajustement et le partage des trajets sans complication.</a:t>
            </a:r>
          </a:p>
          <a:p>
            <a:pPr>
              <a:spcBef>
                <a:spcPts val="2500"/>
              </a:spcBef>
              <a:spcAft>
                <a:spcPts val="600"/>
              </a:spcAft>
            </a:pPr>
            <a:r>
              <a:rPr lang="fr-FR" sz="1600" b="1" dirty="0"/>
              <a:t>Création et modification de parcours</a:t>
            </a:r>
          </a:p>
          <a:p>
            <a:pPr marL="0" lvl="1" indent="0">
              <a:spcBef>
                <a:spcPts val="1000"/>
              </a:spcBef>
              <a:spcAft>
                <a:spcPts val="600"/>
              </a:spcAft>
              <a:buFont typeface="Arial" panose="020B0604020202020204" pitchFamily="34" charset="0"/>
              <a:buNone/>
            </a:pPr>
            <a:r>
              <a:rPr lang="fr-FR" sz="1600" dirty="0"/>
              <a:t>Les utilisateurs peuvent facilement créer et ajuster leurs itinéraires en fonction de leurs préférences et besoins.</a:t>
            </a:r>
          </a:p>
          <a:p>
            <a:pPr>
              <a:spcBef>
                <a:spcPts val="2500"/>
              </a:spcBef>
              <a:spcAft>
                <a:spcPts val="600"/>
              </a:spcAft>
            </a:pPr>
            <a:r>
              <a:rPr lang="fr-FR" sz="1600" b="1" dirty="0"/>
              <a:t>Gestion centralisée des étapes</a:t>
            </a:r>
          </a:p>
          <a:p>
            <a:pPr marL="0" lvl="1" indent="0">
              <a:spcBef>
                <a:spcPts val="1000"/>
              </a:spcBef>
              <a:spcAft>
                <a:spcPts val="600"/>
              </a:spcAft>
              <a:buFont typeface="Arial" panose="020B0604020202020204" pitchFamily="34" charset="0"/>
              <a:buNone/>
            </a:pPr>
            <a:r>
              <a:rPr lang="fr-FR" sz="1600" dirty="0"/>
              <a:t>La plateforme permet de gérer efficacement les différentes étapes du voyage pour une meilleure organisation.</a:t>
            </a:r>
          </a:p>
          <a:p>
            <a:pPr>
              <a:spcBef>
                <a:spcPts val="2500"/>
              </a:spcBef>
              <a:spcAft>
                <a:spcPts val="600"/>
              </a:spcAft>
            </a:pPr>
            <a:r>
              <a:rPr lang="fr-FR" sz="1600" b="1" dirty="0"/>
              <a:t>Simplification de la préparation</a:t>
            </a:r>
          </a:p>
          <a:p>
            <a:pPr marL="0" lvl="1" indent="0">
              <a:spcBef>
                <a:spcPts val="1000"/>
              </a:spcBef>
              <a:spcAft>
                <a:spcPts val="600"/>
              </a:spcAft>
              <a:buFont typeface="Arial" panose="020B0604020202020204" pitchFamily="34" charset="0"/>
              <a:buNone/>
            </a:pPr>
            <a:r>
              <a:rPr lang="fr-FR" sz="1600" dirty="0"/>
              <a:t>Centraliser les informations facilite la planification et rend la préparation du road trip plus intuitive.</a:t>
            </a:r>
          </a:p>
          <a:p>
            <a:pPr marL="0" lvl="1" indent="0">
              <a:spcBef>
                <a:spcPts val="1000"/>
              </a:spcBef>
              <a:spcAft>
                <a:spcPts val="600"/>
              </a:spcAft>
              <a:buFont typeface="Arial" panose="020B0604020202020204" pitchFamily="34" charset="0"/>
              <a:buNone/>
            </a:pPr>
            <a:endParaRPr lang="fr-FR" sz="1600" dirty="0"/>
          </a:p>
          <a:p>
            <a:r>
              <a:rPr lang="fr-FR" dirty="0"/>
              <a:t>
Source de l’image : bibliothèque de contenu Microsoft 365
</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5</a:t>
            </a:fld>
            <a:endParaRPr lang="fr-FR"/>
          </a:p>
        </p:txBody>
      </p:sp>
      <p:sp>
        <p:nvSpPr>
          <p:cNvPr id="5" name="Espace réservé du pied de page 4">
            <a:extLst>
              <a:ext uri="{FF2B5EF4-FFF2-40B4-BE49-F238E27FC236}">
                <a16:creationId xmlns:a16="http://schemas.microsoft.com/office/drawing/2014/main" id="{5C14082D-0D12-CD3F-3523-3C7D0FEC1646}"/>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918843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
L’application encourage les échanges entre voyageurs grâce à des fonctionnalités sociales. Le partage d’itinéraires, les commentaires et les recommandations enrichissent la communauté et améliorent l’expérience de chacun.
</a:t>
            </a:r>
          </a:p>
          <a:p>
            <a:pPr marL="0" indent="0">
              <a:lnSpc>
                <a:spcPct val="90000"/>
              </a:lnSpc>
              <a:spcBef>
                <a:spcPts val="2500"/>
              </a:spcBef>
              <a:spcAft>
                <a:spcPts val="600"/>
              </a:spcAft>
              <a:buNone/>
            </a:pPr>
            <a:r>
              <a:rPr lang="fr-FR" sz="1400" b="1" dirty="0"/>
              <a:t>Encouragement des échanges</a:t>
            </a:r>
          </a:p>
          <a:p>
            <a:pPr marL="0" lvl="1" indent="0">
              <a:lnSpc>
                <a:spcPct val="90000"/>
              </a:lnSpc>
              <a:spcBef>
                <a:spcPts val="1000"/>
              </a:spcBef>
              <a:spcAft>
                <a:spcPts val="600"/>
              </a:spcAft>
              <a:buNone/>
            </a:pPr>
            <a:r>
              <a:rPr lang="fr-FR" sz="1400" dirty="0"/>
              <a:t>L’application facilite la communication entre voyageurs par des fonctionnalités sociales intégrées.</a:t>
            </a:r>
          </a:p>
          <a:p>
            <a:pPr marL="0" indent="0">
              <a:lnSpc>
                <a:spcPct val="90000"/>
              </a:lnSpc>
              <a:spcBef>
                <a:spcPts val="2500"/>
              </a:spcBef>
              <a:spcAft>
                <a:spcPts val="600"/>
              </a:spcAft>
              <a:buNone/>
            </a:pPr>
            <a:r>
              <a:rPr lang="fr-FR" sz="1400" b="1" dirty="0"/>
              <a:t>Partage d’itinéraires</a:t>
            </a:r>
          </a:p>
          <a:p>
            <a:pPr marL="0" lvl="1" indent="0">
              <a:lnSpc>
                <a:spcPct val="90000"/>
              </a:lnSpc>
              <a:spcBef>
                <a:spcPts val="1000"/>
              </a:spcBef>
              <a:spcAft>
                <a:spcPts val="600"/>
              </a:spcAft>
              <a:buNone/>
            </a:pPr>
            <a:r>
              <a:rPr lang="fr-FR" sz="1400" dirty="0"/>
              <a:t>Les utilisateurs peuvent partager leurs parcours pour aider la communauté à découvrir de nouveaux lieux.</a:t>
            </a:r>
          </a:p>
          <a:p>
            <a:endParaRPr lang="fr-FR" dirty="0"/>
          </a:p>
          <a:p>
            <a:r>
              <a:rPr lang="fr-FR" dirty="0"/>
              <a:t>
Source de l’image : bibliothèque de contenu Microsoft 365
</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6</a:t>
            </a:fld>
            <a:endParaRPr lang="fr-FR"/>
          </a:p>
        </p:txBody>
      </p:sp>
      <p:sp>
        <p:nvSpPr>
          <p:cNvPr id="5" name="Espace réservé du pied de page 4">
            <a:extLst>
              <a:ext uri="{FF2B5EF4-FFF2-40B4-BE49-F238E27FC236}">
                <a16:creationId xmlns:a16="http://schemas.microsoft.com/office/drawing/2014/main" id="{DFBE2318-51C3-B0DD-15B8-410CBBA8F779}"/>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1001563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Enfin, examinons les aspects techniques et méthodologiques qui assurent la fiabilité et la qualité de Trips &amp; Roads, notamment son architecture et les méthodes de travail de l’équipe de développement.</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7</a:t>
            </a:fld>
            <a:endParaRPr lang="fr-FR"/>
          </a:p>
        </p:txBody>
      </p:sp>
      <p:sp>
        <p:nvSpPr>
          <p:cNvPr id="5" name="Espace réservé du pied de page 4">
            <a:extLst>
              <a:ext uri="{FF2B5EF4-FFF2-40B4-BE49-F238E27FC236}">
                <a16:creationId xmlns:a16="http://schemas.microsoft.com/office/drawing/2014/main" id="{B1D6EC0E-59F3-C01E-B027-9F25C5456B56}"/>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2718090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spcBef>
                <a:spcPts val="2500"/>
              </a:spcBef>
              <a:spcAft>
                <a:spcPts val="600"/>
              </a:spcAft>
              <a:buNone/>
            </a:pPr>
            <a:r>
              <a:rPr lang="fr-FR" dirty="0"/>
              <a:t>
---
La sécurité des données utilisateurs est une priorité, avec des protocoles de chiffrement et des mécanismes d’authentification solides. Le code est optimisé pour garantir des performances rapides et une expérience utilisateur fluide.
</a:t>
            </a:r>
            <a:r>
              <a:rPr lang="fr-FR" sz="1400" b="1" dirty="0"/>
              <a:t>Sécurité des données</a:t>
            </a:r>
          </a:p>
          <a:p>
            <a:pPr marL="0" lvl="1" indent="0">
              <a:spcBef>
                <a:spcPts val="1000"/>
              </a:spcBef>
              <a:spcAft>
                <a:spcPts val="600"/>
              </a:spcAft>
              <a:buNone/>
            </a:pPr>
            <a:r>
              <a:rPr lang="fr-FR" sz="1400" dirty="0"/>
              <a:t>Priorité à la protection des données grâce à des protocoles de chiffrement robustes et des mécanismes d’authentification efficaces.</a:t>
            </a:r>
          </a:p>
          <a:p>
            <a:pPr marL="0" indent="0">
              <a:spcBef>
                <a:spcPts val="2500"/>
              </a:spcBef>
              <a:spcAft>
                <a:spcPts val="600"/>
              </a:spcAft>
              <a:buNone/>
            </a:pPr>
            <a:r>
              <a:rPr lang="fr-FR" sz="1400" b="1" dirty="0"/>
              <a:t>Optimisation des performances</a:t>
            </a:r>
          </a:p>
          <a:p>
            <a:pPr marL="0" lvl="1" indent="0">
              <a:spcBef>
                <a:spcPts val="1000"/>
              </a:spcBef>
              <a:spcAft>
                <a:spcPts val="600"/>
              </a:spcAft>
              <a:buNone/>
            </a:pPr>
            <a:r>
              <a:rPr lang="fr-FR" sz="1400" dirty="0"/>
              <a:t>Le code est optimisé pour assurer une exécution rapide et une expérience utilisateur fluide et sans interruption.</a:t>
            </a:r>
          </a:p>
          <a:p>
            <a:pPr marL="0" lvl="1" indent="0">
              <a:spcBef>
                <a:spcPts val="1000"/>
              </a:spcBef>
              <a:spcAft>
                <a:spcPts val="600"/>
              </a:spcAft>
              <a:buNone/>
            </a:pPr>
            <a:endParaRPr lang="fr-FR" sz="1400" dirty="0"/>
          </a:p>
          <a:p>
            <a:pPr marL="0" lvl="1" indent="0">
              <a:spcBef>
                <a:spcPts val="1000"/>
              </a:spcBef>
              <a:spcAft>
                <a:spcPts val="600"/>
              </a:spcAft>
              <a:buNone/>
            </a:pPr>
            <a:r>
              <a:rPr lang="fr-FR" sz="1400" b="1" dirty="0"/>
              <a:t>Sécurité de connexions</a:t>
            </a:r>
          </a:p>
          <a:p>
            <a:pPr marL="0" lvl="1" indent="0">
              <a:spcBef>
                <a:spcPts val="1000"/>
              </a:spcBef>
              <a:spcAft>
                <a:spcPts val="600"/>
              </a:spcAft>
              <a:buNone/>
            </a:pPr>
            <a:r>
              <a:rPr lang="fr-FR" sz="1400" dirty="0"/>
              <a:t>Hachage des mot de passe</a:t>
            </a:r>
          </a:p>
          <a:p>
            <a:pPr marL="0" lvl="1" indent="0">
              <a:spcBef>
                <a:spcPts val="1000"/>
              </a:spcBef>
              <a:spcAft>
                <a:spcPts val="600"/>
              </a:spcAft>
              <a:buNone/>
            </a:pPr>
            <a:r>
              <a:rPr lang="fr-FR" sz="1400" b="1" dirty="0"/>
              <a:t>RGPD</a:t>
            </a:r>
          </a:p>
          <a:p>
            <a:r>
              <a:rPr lang="fr-FR" dirty="0"/>
              <a:t>
Source de l’image : bibliothèque de contenu Microsoft 365
</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8</a:t>
            </a:fld>
            <a:endParaRPr lang="fr-FR"/>
          </a:p>
        </p:txBody>
      </p:sp>
      <p:sp>
        <p:nvSpPr>
          <p:cNvPr id="5" name="Espace réservé du pied de page 4">
            <a:extLst>
              <a:ext uri="{FF2B5EF4-FFF2-40B4-BE49-F238E27FC236}">
                <a16:creationId xmlns:a16="http://schemas.microsoft.com/office/drawing/2014/main" id="{B2EC40E5-E595-31CC-4220-1405C148EAC5}"/>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3871495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90000"/>
              </a:lnSpc>
              <a:spcBef>
                <a:spcPts val="2500"/>
              </a:spcBef>
              <a:spcAft>
                <a:spcPts val="600"/>
              </a:spcAft>
              <a:buNone/>
            </a:pPr>
            <a:r>
              <a:rPr lang="fr-FR" dirty="0"/>
              <a:t>
---
L’application repose sur une architecture MVC robuste, permettant une séparation claire des responsabilités. Les choix technologiques ont été orientés vers la performance, la scalabilité et la maintenabilité du code.
</a:t>
            </a:r>
            <a:r>
              <a:rPr lang="fr-FR" sz="2000" b="1" dirty="0"/>
              <a:t>Maintenabilité du code</a:t>
            </a:r>
          </a:p>
          <a:p>
            <a:pPr marL="0" lvl="1" indent="0">
              <a:lnSpc>
                <a:spcPct val="90000"/>
              </a:lnSpc>
              <a:spcBef>
                <a:spcPts val="1000"/>
              </a:spcBef>
              <a:spcAft>
                <a:spcPts val="600"/>
              </a:spcAft>
              <a:buNone/>
            </a:pPr>
            <a:r>
              <a:rPr lang="fr-FR" sz="2000" dirty="0"/>
              <a:t>La conception facilite les mises à jour et l'évolution du code, assurant une maintenance aisée sur le long terme.</a:t>
            </a:r>
          </a:p>
          <a:p>
            <a:pPr marL="0" lvl="1" indent="0">
              <a:lnSpc>
                <a:spcPct val="90000"/>
              </a:lnSpc>
              <a:spcBef>
                <a:spcPts val="1000"/>
              </a:spcBef>
              <a:spcAft>
                <a:spcPts val="600"/>
              </a:spcAft>
              <a:buNone/>
            </a:pPr>
            <a:endParaRPr lang="fr-FR" sz="2000" dirty="0"/>
          </a:p>
          <a:p>
            <a:r>
              <a:rPr lang="fr-FR" dirty="0"/>
              <a:t>
Source de l’image : bibliothèque de contenu Microsoft 365
</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9</a:t>
            </a:fld>
            <a:endParaRPr lang="fr-FR"/>
          </a:p>
        </p:txBody>
      </p:sp>
      <p:sp>
        <p:nvSpPr>
          <p:cNvPr id="5" name="Espace réservé du pied de page 4">
            <a:extLst>
              <a:ext uri="{FF2B5EF4-FFF2-40B4-BE49-F238E27FC236}">
                <a16:creationId xmlns:a16="http://schemas.microsoft.com/office/drawing/2014/main" id="{DE6C3C6F-C109-3459-0B7F-6B43092EC590}"/>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3176140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1F3BC-F28F-36EF-F60C-2E37AD6413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F867A6-0C81-CDE8-C90F-888C7CF1A7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2869A8-B2C1-0C3F-5AAC-EFD20C81F6A3}"/>
              </a:ext>
            </a:extLst>
          </p:cNvPr>
          <p:cNvSpPr>
            <a:spLocks noGrp="1"/>
          </p:cNvSpPr>
          <p:nvPr>
            <p:ph type="body" idx="1"/>
          </p:nvPr>
        </p:nvSpPr>
        <p:spPr/>
        <p:txBody>
          <a:bodyPr/>
          <a:lstStyle/>
          <a:p>
            <a:r>
              <a:rPr lang="fr-FR"/>
              <a:t>Enfin, examinons les aspects techniques et méthodologiques qui assurent la fiabilité et la qualité de Trips &amp; Roads, notamment son architecture et les méthodes de travail de l’équipe de développement.</a:t>
            </a:r>
          </a:p>
        </p:txBody>
      </p:sp>
      <p:sp>
        <p:nvSpPr>
          <p:cNvPr id="4" name="Espace réservé du numéro de diapositive 3">
            <a:extLst>
              <a:ext uri="{FF2B5EF4-FFF2-40B4-BE49-F238E27FC236}">
                <a16:creationId xmlns:a16="http://schemas.microsoft.com/office/drawing/2014/main" id="{559DED03-1ECA-062F-5B4B-0D1E1BEA9528}"/>
              </a:ext>
            </a:extLst>
          </p:cNvPr>
          <p:cNvSpPr>
            <a:spLocks noGrp="1"/>
          </p:cNvSpPr>
          <p:nvPr>
            <p:ph type="sldNum" sz="quarter" idx="5"/>
          </p:nvPr>
        </p:nvSpPr>
        <p:spPr/>
        <p:txBody>
          <a:bodyPr/>
          <a:lstStyle/>
          <a:p>
            <a:fld id="{5A3C0F2E-7306-4229-84CC-00BAC203E33D}" type="slidenum">
              <a:rPr lang="fr-FR" smtClean="0"/>
              <a:t>11</a:t>
            </a:fld>
            <a:endParaRPr lang="fr-FR"/>
          </a:p>
        </p:txBody>
      </p:sp>
      <p:sp>
        <p:nvSpPr>
          <p:cNvPr id="5" name="Espace réservé du pied de page 4">
            <a:extLst>
              <a:ext uri="{FF2B5EF4-FFF2-40B4-BE49-F238E27FC236}">
                <a16:creationId xmlns:a16="http://schemas.microsoft.com/office/drawing/2014/main" id="{B2F40741-42A1-AFA2-929B-390EE3CCCD21}"/>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768638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F7744-18C9-5E27-A510-04E9F1B052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6C6412-6544-7F4D-4DB2-8EDF98691E3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F00821-565F-CFF5-4858-EC2CC112B2CE}"/>
              </a:ext>
            </a:extLst>
          </p:cNvPr>
          <p:cNvSpPr>
            <a:spLocks noGrp="1"/>
          </p:cNvSpPr>
          <p:nvPr>
            <p:ph type="body" idx="1"/>
          </p:nvPr>
        </p:nvSpPr>
        <p:spPr/>
        <p:txBody>
          <a:bodyPr/>
          <a:lstStyle/>
          <a:p>
            <a:r>
              <a:rPr lang="fr-FR"/>
              <a:t>Enfin, examinons les aspects techniques et méthodologiques qui assurent la fiabilité et la qualité de Trips &amp; Roads, notamment son architecture et les méthodes de travail de l’équipe de développement.</a:t>
            </a:r>
          </a:p>
        </p:txBody>
      </p:sp>
      <p:sp>
        <p:nvSpPr>
          <p:cNvPr id="4" name="Espace réservé du numéro de diapositive 3">
            <a:extLst>
              <a:ext uri="{FF2B5EF4-FFF2-40B4-BE49-F238E27FC236}">
                <a16:creationId xmlns:a16="http://schemas.microsoft.com/office/drawing/2014/main" id="{2FF3B580-A77C-EA65-03E9-9B1844A58193}"/>
              </a:ext>
            </a:extLst>
          </p:cNvPr>
          <p:cNvSpPr>
            <a:spLocks noGrp="1"/>
          </p:cNvSpPr>
          <p:nvPr>
            <p:ph type="sldNum" sz="quarter" idx="5"/>
          </p:nvPr>
        </p:nvSpPr>
        <p:spPr/>
        <p:txBody>
          <a:bodyPr/>
          <a:lstStyle/>
          <a:p>
            <a:fld id="{5A3C0F2E-7306-4229-84CC-00BAC203E33D}" type="slidenum">
              <a:rPr lang="fr-FR" smtClean="0"/>
              <a:t>13</a:t>
            </a:fld>
            <a:endParaRPr lang="fr-FR"/>
          </a:p>
        </p:txBody>
      </p:sp>
      <p:sp>
        <p:nvSpPr>
          <p:cNvPr id="5" name="Espace réservé du pied de page 4">
            <a:extLst>
              <a:ext uri="{FF2B5EF4-FFF2-40B4-BE49-F238E27FC236}">
                <a16:creationId xmlns:a16="http://schemas.microsoft.com/office/drawing/2014/main" id="{54430445-F67C-C7E0-AD2F-2EC0A2577CAA}"/>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1550600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Trips &amp; Roads se présente comme une solution complète et conviviale pour planifier, gérer et partager des road trips. Grâce à ses fonctionnalités avancées, son aspect collaboratif et son accessibilité, elle répond aux attentes des voyageurs modernes.</a:t>
            </a:r>
          </a:p>
        </p:txBody>
      </p:sp>
      <p:sp>
        <p:nvSpPr>
          <p:cNvPr id="4" name="Espace réservé du numéro de diapositive 3"/>
          <p:cNvSpPr>
            <a:spLocks noGrp="1"/>
          </p:cNvSpPr>
          <p:nvPr>
            <p:ph type="sldNum" sz="quarter" idx="5"/>
          </p:nvPr>
        </p:nvSpPr>
        <p:spPr/>
        <p:txBody>
          <a:bodyPr/>
          <a:lstStyle/>
          <a:p>
            <a:fld id="{5A3C0F2E-7306-4229-84CC-00BAC203E33D}" type="slidenum">
              <a:rPr lang="fr-FR" smtClean="0"/>
              <a:t>15</a:t>
            </a:fld>
            <a:endParaRPr lang="fr-FR"/>
          </a:p>
        </p:txBody>
      </p:sp>
      <p:sp>
        <p:nvSpPr>
          <p:cNvPr id="5" name="Espace réservé du pied de page 4">
            <a:extLst>
              <a:ext uri="{FF2B5EF4-FFF2-40B4-BE49-F238E27FC236}">
                <a16:creationId xmlns:a16="http://schemas.microsoft.com/office/drawing/2014/main" id="{0AE0D8DA-8C21-A79F-4910-7C03FE771ED2}"/>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508229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3BD3F3C5-5C4C-4302-935F-BFBB069920C0}"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7207209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0E21E88-C58C-47D1-BCEC-67C3BB7CCA5C}"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757145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1C34337A-9482-4CC8-8FC5-1C93DF350A11}"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8433566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CAE44196-2F3A-46E7-AB2B-536B80854BCE}"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231716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5502177"/>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3F75E388-D5D6-415D-88C3-FD0B16BBC0C7}"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3355093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23014289-0DA7-40FC-A0B5-88EE7CE34ACB}"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5502315"/>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dirty="0"/>
          </a:p>
        </p:txBody>
      </p:sp>
    </p:spTree>
    <p:extLst>
      <p:ext uri="{BB962C8B-B14F-4D97-AF65-F5344CB8AC3E}">
        <p14:creationId xmlns:p14="http://schemas.microsoft.com/office/powerpoint/2010/main" val="40473353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6CC0D557-EEF5-4BB5-A961-4CF7E4A7C0A0}"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1792300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13C280C0-3876-4F44-B09C-9D198BC61D39}" type="datetime1">
              <a:rPr lang="en-US" smtClean="0"/>
              <a:t>4/1/2026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‹N°›</a:t>
            </a:fld>
            <a:endParaRPr lang="en-US" dirty="0"/>
          </a:p>
        </p:txBody>
      </p:sp>
      <p:pic>
        <p:nvPicPr>
          <p:cNvPr id="9" name="Image 8" descr="Une image contenant texte, cercle, Graphique, capture d’écran&#10;&#10;Le contenu généré par l’IA peut être incorrect.">
            <a:extLst>
              <a:ext uri="{FF2B5EF4-FFF2-40B4-BE49-F238E27FC236}">
                <a16:creationId xmlns:a16="http://schemas.microsoft.com/office/drawing/2014/main" id="{B90851CD-0AA5-2703-2166-34D9C338A0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87053" y="5931582"/>
            <a:ext cx="1821084" cy="700691"/>
          </a:xfrm>
          <a:prstGeom prst="rect">
            <a:avLst/>
          </a:prstGeom>
        </p:spPr>
      </p:pic>
    </p:spTree>
    <p:extLst>
      <p:ext uri="{BB962C8B-B14F-4D97-AF65-F5344CB8AC3E}">
        <p14:creationId xmlns:p14="http://schemas.microsoft.com/office/powerpoint/2010/main" val="3798190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39B21C24-7A7D-4DAA-9A4A-6C04F4B66D0C}" type="datetime1">
              <a:rPr lang="en-US" smtClean="0"/>
              <a:t>4/1/2026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‹N°›</a:t>
            </a:fld>
            <a:endParaRPr lang="en-US" dirty="0"/>
          </a:p>
        </p:txBody>
      </p:sp>
    </p:spTree>
    <p:extLst>
      <p:ext uri="{BB962C8B-B14F-4D97-AF65-F5344CB8AC3E}">
        <p14:creationId xmlns:p14="http://schemas.microsoft.com/office/powerpoint/2010/main" val="208345239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91A0BF8-0FCB-4DB6-8C04-970C267974CA}" type="datetime1">
              <a:rPr lang="en-US" smtClean="0"/>
              <a:t>4/1/2026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14030459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EDA16A7-9F21-4DE6-B870-C678B750EA08}" type="datetime1">
              <a:rPr lang="en-US" smtClean="0"/>
              <a:t>4/1/2026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74784105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847D859-C75C-4B5D-8928-C4A788801519}"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06949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9A001FB-E0E3-4945-9B4F-9BF20D71FA0F}"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8568045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E62DB36-F11F-4A81-87A8-DB06F951B5D5}"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717746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4D111-F41F-4B41-8AA0-794FC5AFDA49}"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231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B22D8DE-6250-416A-9B20-E17F7D274802}"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096615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C465DE7-34D1-4C9C-9343-D358DDEF52D2}"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4295083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7F0AF32-A3D5-4EB7-9ECC-4166B157E150}"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6887964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9DD476B-B354-4B29-A3D4-8AEF8E14EF7B}"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698751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30BA9519-0521-4C4C-A5C2-6BCFE39ACEE0}"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741044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63B4EA8-DB83-456E-9804-4BEFB56F9B17}" type="datetime1">
              <a:rPr lang="en-US" smtClean="0"/>
              <a:t>4/1/2026</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79453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A96D518-4680-497C-AECD-F23900B9B0F7}"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286696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2A53146-3808-4CE3-941B-29FF5A642E37}" type="datetime1">
              <a:rPr lang="en-US" smtClean="0"/>
              <a:t>4/1/2026</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5420967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40574A2-B048-4325-90E9-556C0079C8F3}"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6518020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3507666-67D5-4451-8E9E-199655FF28DD}" type="datetime1">
              <a:rPr lang="en-US" smtClean="0"/>
              <a:t>4/1/2026</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4901073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4F49BDA-0321-4B3C-A770-B4AFDE6522B0}"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6290932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A39D798-6749-4AD5-93B9-B2A8FC940F01}" type="datetime1">
              <a:rPr lang="en-US" smtClean="0"/>
              <a:t>4/1/2026</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015885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A1ADC64-6E51-4B85-88A7-F60D089DE428}"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583921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4F08AD3-06BC-45E1-AC3E-6EEBDD010FFB}"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723938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AA3B765-43A8-4830-AF01-72821E847983}"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642101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FE41811-10C6-4614-88EC-83E0ACC75160}" type="datetime1">
              <a:rPr lang="en-US" smtClean="0"/>
              <a:t>4/1/2026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676184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EF137F-2B2A-40C4-91C3-CD308FB58EB6}" type="datetime1">
              <a:rPr lang="en-US" smtClean="0"/>
              <a:t>4/1/2026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5029432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B5C625B2-B5AE-49AA-9956-0F72018AD45F}" type="datetime1">
              <a:rPr lang="en-US" smtClean="0"/>
              <a:t>4/1/2026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762406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4B65C76-7247-4F79-AE9C-E895A3C8DB99}"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0637506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43AE1DA-A480-43FE-9203-B0DE856F9D6A}"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4089375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7505E69-337D-4055-8120-6D48BFDD402E}"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8033084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66433CA8-0AF1-403A-8DC8-B974DC6FBF7E}" type="datetime1">
              <a:rPr lang="en-US" smtClean="0"/>
              <a:t>4/1/2026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6060012"/>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8277DECF-A97B-41DC-AF4A-66681CA83FE5}" type="datetime1">
              <a:rPr lang="en-US" smtClean="0"/>
              <a:t>4/1/2026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63991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D26111A0-2254-4994-A5D3-9AD79EB3F933}" type="datetime1">
              <a:rPr lang="en-US" smtClean="0"/>
              <a:t>4/1/2026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622746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89F424F-DD47-401D-9D18-817E67BD3B1F}" type="datetime1">
              <a:rPr lang="en-US" smtClean="0"/>
              <a:t>4/1/2026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64195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48D7413C-7B30-4D4D-A1FA-D692A0C1E972}" type="datetime1">
              <a:rPr lang="en-US" smtClean="0"/>
              <a:t>4/1/2026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85055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8E97ACF0-D0E5-42F4-84D4-22A9E823CF77}" type="datetime1">
              <a:rPr lang="en-US" smtClean="0"/>
              <a:t>4/1/2026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3949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3251199-E615-427B-A5E5-BCBDA8F51018}"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0926489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47B4BA4-32EA-431A-AB26-BAE8D92C63E3}" type="datetime1">
              <a:rPr lang="en-US" smtClean="0"/>
              <a:t>4/1/2026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4286986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6D1466-ECDE-4F85-B823-F4D8B83EBB2E}" type="datetime1">
              <a:rPr lang="en-US" smtClean="0"/>
              <a:t>4/1/2026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8507705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5C97A98-0C51-469C-BACD-A8061021CA89}" type="datetime1">
              <a:rPr lang="en-US" smtClean="0"/>
              <a:t>4/1/2026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008922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1EE69C9-1D36-40F4-A523-45F51AF28AA4}" type="datetime1">
              <a:rPr lang="en-US" smtClean="0"/>
              <a:t>4/1/2026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2854420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8C79C4A-3DBD-4004-8452-05A75E24FCD6}" type="datetime1">
              <a:rPr lang="en-US" smtClean="0"/>
              <a:t>4/1/2026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3727533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2D46CB2-4E37-4210-82BA-175249E6070A}" type="datetime1">
              <a:rPr lang="en-US" smtClean="0"/>
              <a:t>4/1/2026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2401131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13C1E5A3-7F4C-49E3-8BC0-369192D6E25E}" type="datetime1">
              <a:rPr lang="en-US" smtClean="0"/>
              <a:t>4/1/2026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2257732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A61D58-72A6-482D-AADB-8E04741403EA}"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82520880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347CADA-FB65-457B-981F-BF99EB5D5551}" type="datetime1">
              <a:rPr lang="en-US" smtClean="0"/>
              <a:t>4/1/2026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1540404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37DA37B6-17A9-43D1-9FB6-07B3DE9B1CE5}" type="datetime1">
              <a:rPr lang="en-US" smtClean="0"/>
              <a:t>4/1/2026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‹N°›</a:t>
            </a:fld>
            <a:endParaRPr lang="en-US" dirty="0"/>
          </a:p>
        </p:txBody>
      </p:sp>
      <p:pic>
        <p:nvPicPr>
          <p:cNvPr id="8" name="Image 7" descr="Une image contenant texte, cercle, Graphique, capture d’écran&#10;&#10;Le contenu généré par l’IA peut être incorrect.">
            <a:extLst>
              <a:ext uri="{FF2B5EF4-FFF2-40B4-BE49-F238E27FC236}">
                <a16:creationId xmlns:a16="http://schemas.microsoft.com/office/drawing/2014/main" id="{3DD2CB6D-5011-D575-B130-F560676BD8B1}"/>
              </a:ext>
            </a:extLst>
          </p:cNvPr>
          <p:cNvPicPr>
            <a:picLocks noChangeAspect="1"/>
          </p:cNvPicPr>
          <p:nvPr userDrawn="1"/>
        </p:nvPicPr>
        <p:blipFill>
          <a:blip r:embed="rId54">
            <a:extLst>
              <a:ext uri="{28A0092B-C50C-407E-A947-70E740481C1C}">
                <a14:useLocalDpi xmlns:a14="http://schemas.microsoft.com/office/drawing/2010/main" val="0"/>
              </a:ext>
            </a:extLst>
          </a:blip>
          <a:stretch>
            <a:fillRect/>
          </a:stretch>
        </p:blipFill>
        <p:spPr>
          <a:xfrm>
            <a:off x="10187053" y="5931582"/>
            <a:ext cx="1821084" cy="700691"/>
          </a:xfrm>
          <a:prstGeom prst="rect">
            <a:avLst/>
          </a:prstGeom>
        </p:spPr>
      </p:pic>
    </p:spTree>
    <p:extLst>
      <p:ext uri="{BB962C8B-B14F-4D97-AF65-F5344CB8AC3E}">
        <p14:creationId xmlns:p14="http://schemas.microsoft.com/office/powerpoint/2010/main" val="13870827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49.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0.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cbulle.github.io/trips-road/" TargetMode="External"/><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5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04E48"/>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23E51E-4C95-D8DF-028E-C99548E46882}"/>
              </a:ext>
            </a:extLst>
          </p:cNvPr>
          <p:cNvSpPr>
            <a:spLocks noGrp="1"/>
          </p:cNvSpPr>
          <p:nvPr>
            <p:ph type="ctrTitle"/>
          </p:nvPr>
        </p:nvSpPr>
        <p:spPr>
          <a:xfrm>
            <a:off x="1341109" y="553047"/>
            <a:ext cx="9509782" cy="1454358"/>
          </a:xfrm>
        </p:spPr>
        <p:txBody>
          <a:bodyPr anchor="b">
            <a:noAutofit/>
          </a:bodyPr>
          <a:lstStyle/>
          <a:p>
            <a:pPr algn="ctr"/>
            <a:r>
              <a:rPr lang="fr-FR" sz="3200" b="1" u="sng" noProof="0" dirty="0">
                <a:solidFill>
                  <a:schemeClr val="tx1">
                    <a:lumMod val="10000"/>
                    <a:lumOff val="90000"/>
                  </a:schemeClr>
                </a:solidFill>
              </a:rPr>
              <a:t>Présentation de Trips &amp; </a:t>
            </a:r>
            <a:r>
              <a:rPr lang="fr-FR" sz="3200" b="1" u="sng" noProof="0" dirty="0" err="1">
                <a:solidFill>
                  <a:schemeClr val="tx1">
                    <a:lumMod val="10000"/>
                    <a:lumOff val="90000"/>
                  </a:schemeClr>
                </a:solidFill>
              </a:rPr>
              <a:t>Roads</a:t>
            </a:r>
            <a:r>
              <a:rPr lang="fr-FR" sz="3200" b="1" u="sng" noProof="0" dirty="0">
                <a:solidFill>
                  <a:schemeClr val="tx1">
                    <a:lumMod val="10000"/>
                    <a:lumOff val="90000"/>
                  </a:schemeClr>
                </a:solidFill>
              </a:rPr>
              <a:t> </a:t>
            </a:r>
            <a:br>
              <a:rPr lang="fr-FR" sz="3200" b="1" u="sng" noProof="0" dirty="0">
                <a:solidFill>
                  <a:schemeClr val="tx1">
                    <a:lumMod val="10000"/>
                    <a:lumOff val="90000"/>
                  </a:schemeClr>
                </a:solidFill>
              </a:rPr>
            </a:br>
            <a:r>
              <a:rPr lang="fr-FR" sz="3200" b="1" u="sng" noProof="0" dirty="0">
                <a:solidFill>
                  <a:schemeClr val="tx1">
                    <a:lumMod val="10000"/>
                    <a:lumOff val="90000"/>
                  </a:schemeClr>
                </a:solidFill>
              </a:rPr>
              <a:t> Une application collaborative pour la planification et le partage de road trips.</a:t>
            </a:r>
          </a:p>
        </p:txBody>
      </p:sp>
      <p:sp>
        <p:nvSpPr>
          <p:cNvPr id="5" name="Espace réservé du numéro de diapositive 4">
            <a:extLst>
              <a:ext uri="{FF2B5EF4-FFF2-40B4-BE49-F238E27FC236}">
                <a16:creationId xmlns:a16="http://schemas.microsoft.com/office/drawing/2014/main" id="{EA6FA867-1C95-AED8-72C0-11797A0744DB}"/>
              </a:ext>
            </a:extLst>
          </p:cNvPr>
          <p:cNvSpPr>
            <a:spLocks noGrp="1"/>
          </p:cNvSpPr>
          <p:nvPr>
            <p:ph type="sldNum" sz="quarter" idx="12"/>
          </p:nvPr>
        </p:nvSpPr>
        <p:spPr>
          <a:xfrm>
            <a:off x="11632162" y="6519672"/>
            <a:ext cx="429207" cy="365125"/>
          </a:xfrm>
        </p:spPr>
        <p:txBody>
          <a:bodyPr anchor="ctr">
            <a:normAutofit/>
          </a:bodyPr>
          <a:lstStyle/>
          <a:p>
            <a:pPr>
              <a:spcAft>
                <a:spcPts val="600"/>
              </a:spcAft>
            </a:pPr>
            <a:fld id="{CC057153-B650-4DEB-B370-79DDCFDCE934}" type="slidenum">
              <a:rPr lang="fr-FR" noProof="0" smtClean="0"/>
              <a:pPr>
                <a:spcAft>
                  <a:spcPts val="600"/>
                </a:spcAft>
              </a:pPr>
              <a:t>1</a:t>
            </a:fld>
            <a:endParaRPr lang="fr-FR" noProof="0" dirty="0"/>
          </a:p>
        </p:txBody>
      </p:sp>
      <p:pic>
        <p:nvPicPr>
          <p:cNvPr id="10" name="Image 9" descr="Une image contenant texte, Graphique, Police, graphisme&#10;&#10;Le contenu généré par l’IA peut être incorrect.">
            <a:extLst>
              <a:ext uri="{FF2B5EF4-FFF2-40B4-BE49-F238E27FC236}">
                <a16:creationId xmlns:a16="http://schemas.microsoft.com/office/drawing/2014/main" id="{5AD8D329-67CE-4CBE-4D1A-33EA9F3DD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053" y="5931581"/>
            <a:ext cx="1821084" cy="700691"/>
          </a:xfrm>
          <a:prstGeom prst="rect">
            <a:avLst/>
          </a:prstGeom>
        </p:spPr>
      </p:pic>
      <p:pic>
        <p:nvPicPr>
          <p:cNvPr id="4" name="Image 3">
            <a:extLst>
              <a:ext uri="{FF2B5EF4-FFF2-40B4-BE49-F238E27FC236}">
                <a16:creationId xmlns:a16="http://schemas.microsoft.com/office/drawing/2014/main" id="{2FCAFB66-8223-B601-51EC-D3912E680228}"/>
              </a:ext>
            </a:extLst>
          </p:cNvPr>
          <p:cNvPicPr>
            <a:picLocks noChangeAspect="1"/>
          </p:cNvPicPr>
          <p:nvPr/>
        </p:nvPicPr>
        <p:blipFill>
          <a:blip r:embed="rId4"/>
          <a:stretch>
            <a:fillRect/>
          </a:stretch>
        </p:blipFill>
        <p:spPr>
          <a:xfrm>
            <a:off x="2208994" y="2128708"/>
            <a:ext cx="7774011" cy="3874947"/>
          </a:xfrm>
          <a:prstGeom prst="rect">
            <a:avLst/>
          </a:prstGeom>
        </p:spPr>
      </p:pic>
    </p:spTree>
    <p:extLst>
      <p:ext uri="{BB962C8B-B14F-4D97-AF65-F5344CB8AC3E}">
        <p14:creationId xmlns:p14="http://schemas.microsoft.com/office/powerpoint/2010/main" val="328284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2C000C-BC0C-9F09-8861-6B98BFE69091}"/>
              </a:ext>
            </a:extLst>
          </p:cNvPr>
          <p:cNvSpPr>
            <a:spLocks noGrp="1"/>
          </p:cNvSpPr>
          <p:nvPr>
            <p:ph type="title"/>
          </p:nvPr>
        </p:nvSpPr>
        <p:spPr>
          <a:xfrm>
            <a:off x="280011" y="671771"/>
            <a:ext cx="11631978" cy="989057"/>
          </a:xfrm>
        </p:spPr>
        <p:txBody>
          <a:bodyPr anchor="t">
            <a:noAutofit/>
          </a:bodyPr>
          <a:lstStyle/>
          <a:p>
            <a:pPr algn="ctr"/>
            <a:r>
              <a:rPr lang="fr-FR" sz="4800" b="1" noProof="0" dirty="0"/>
              <a:t>Déroulement</a:t>
            </a:r>
            <a:r>
              <a:rPr lang="fr-FR" sz="5400" b="1" noProof="0" dirty="0"/>
              <a:t>  de la présentation</a:t>
            </a:r>
          </a:p>
        </p:txBody>
      </p:sp>
      <p:sp>
        <p:nvSpPr>
          <p:cNvPr id="3" name="Espace réservé du contenu 2">
            <a:extLst>
              <a:ext uri="{FF2B5EF4-FFF2-40B4-BE49-F238E27FC236}">
                <a16:creationId xmlns:a16="http://schemas.microsoft.com/office/drawing/2014/main" id="{E5C355B0-FCA8-0666-ED5D-08A1413A929D}"/>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14979" y="2449469"/>
            <a:ext cx="10962042" cy="2492921"/>
          </a:xfrm>
        </p:spPr>
        <p:txBody>
          <a:bodyPr>
            <a:normAutofit lnSpcReduction="10000"/>
          </a:bodyPr>
          <a:lstStyle/>
          <a:p>
            <a:pPr>
              <a:buFont typeface="Arial" panose="020B0604020202020204" pitchFamily="34" charset="0"/>
              <a:buChar char="•"/>
            </a:pPr>
            <a:r>
              <a:rPr lang="fr-FR" sz="2800" noProof="0" dirty="0"/>
              <a:t>Standardisation des pratiques de développement</a:t>
            </a:r>
          </a:p>
          <a:p>
            <a:pPr>
              <a:buFont typeface="Arial" panose="020B0604020202020204" pitchFamily="34" charset="0"/>
              <a:buChar char="•"/>
            </a:pPr>
            <a:r>
              <a:rPr lang="fr-FR" sz="2800" noProof="0" dirty="0"/>
              <a:t>Optimisations techniques</a:t>
            </a:r>
          </a:p>
          <a:p>
            <a:pPr>
              <a:buFont typeface="Arial" panose="020B0604020202020204" pitchFamily="34" charset="0"/>
              <a:buChar char="•"/>
            </a:pPr>
            <a:r>
              <a:rPr lang="fr-FR" sz="2800" noProof="0" dirty="0"/>
              <a:t>Optimisation des axes d'amélioration identifiés</a:t>
            </a:r>
          </a:p>
          <a:p>
            <a:pPr>
              <a:buFont typeface="Arial" panose="020B0604020202020204" pitchFamily="34" charset="0"/>
              <a:buChar char="•"/>
            </a:pPr>
            <a:r>
              <a:rPr lang="fr-FR" sz="2800" noProof="0" dirty="0"/>
              <a:t>Présentation technique généralisé </a:t>
            </a:r>
          </a:p>
          <a:p>
            <a:pPr>
              <a:buFont typeface="Arial" panose="020B0604020202020204" pitchFamily="34" charset="0"/>
              <a:buChar char="•"/>
            </a:pPr>
            <a:endParaRPr lang="fr-FR" sz="2800" noProof="0" dirty="0"/>
          </a:p>
          <a:p>
            <a:pPr>
              <a:buFont typeface="Arial" panose="020B0604020202020204" pitchFamily="34" charset="0"/>
              <a:buChar char="•"/>
            </a:pPr>
            <a:endParaRPr lang="fr-FR" noProof="0" dirty="0"/>
          </a:p>
        </p:txBody>
      </p:sp>
      <p:sp>
        <p:nvSpPr>
          <p:cNvPr id="5" name="Espace réservé du numéro de diapositive 4">
            <a:extLst>
              <a:ext uri="{FF2B5EF4-FFF2-40B4-BE49-F238E27FC236}">
                <a16:creationId xmlns:a16="http://schemas.microsoft.com/office/drawing/2014/main" id="{B8584D75-8A78-916A-B3A8-BCC73B8CB1AB}"/>
              </a:ext>
            </a:extLst>
          </p:cNvPr>
          <p:cNvSpPr>
            <a:spLocks noGrp="1"/>
          </p:cNvSpPr>
          <p:nvPr>
            <p:ph type="sldNum" sz="quarter" idx="12"/>
          </p:nvPr>
        </p:nvSpPr>
        <p:spPr/>
        <p:txBody>
          <a:bodyPr/>
          <a:lstStyle/>
          <a:p>
            <a:fld id="{CC057153-B650-4DEB-B370-79DDCFDCE934}" type="slidenum">
              <a:rPr lang="fr-FR" noProof="0" smtClean="0"/>
              <a:t>2</a:t>
            </a:fld>
            <a:endParaRPr lang="fr-FR" noProof="0" dirty="0"/>
          </a:p>
        </p:txBody>
      </p:sp>
    </p:spTree>
    <p:extLst>
      <p:ext uri="{BB962C8B-B14F-4D97-AF65-F5344CB8AC3E}">
        <p14:creationId xmlns:p14="http://schemas.microsoft.com/office/powerpoint/2010/main" val="2885706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304E48"/>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5BD137-EC0D-84A6-A064-17C989D27284}"/>
              </a:ext>
            </a:extLst>
          </p:cNvPr>
          <p:cNvSpPr>
            <a:spLocks noGrp="1"/>
          </p:cNvSpPr>
          <p:nvPr>
            <p:ph type="title"/>
          </p:nvPr>
        </p:nvSpPr>
        <p:spPr>
          <a:xfrm>
            <a:off x="440525" y="1853543"/>
            <a:ext cx="7772400" cy="4562856"/>
          </a:xfrm>
        </p:spPr>
        <p:txBody>
          <a:bodyPr anchor="b">
            <a:normAutofit/>
          </a:bodyPr>
          <a:lstStyle/>
          <a:p>
            <a:r>
              <a:rPr lang="fr-FR" sz="6600" b="1" noProof="0" dirty="0">
                <a:solidFill>
                  <a:schemeClr val="bg1"/>
                </a:solidFill>
              </a:rPr>
              <a:t>Standardisation des pratiques de développement</a:t>
            </a:r>
          </a:p>
        </p:txBody>
      </p:sp>
      <p:sp>
        <p:nvSpPr>
          <p:cNvPr id="4" name="Espace réservé du numéro de diapositive 3">
            <a:extLst>
              <a:ext uri="{FF2B5EF4-FFF2-40B4-BE49-F238E27FC236}">
                <a16:creationId xmlns:a16="http://schemas.microsoft.com/office/drawing/2014/main" id="{AEEB4994-734B-68AC-CD78-23C14BCED7F9}"/>
              </a:ext>
            </a:extLst>
          </p:cNvPr>
          <p:cNvSpPr>
            <a:spLocks noGrp="1"/>
          </p:cNvSpPr>
          <p:nvPr>
            <p:ph type="sldNum" sz="quarter" idx="12"/>
          </p:nvPr>
        </p:nvSpPr>
        <p:spPr/>
        <p:txBody>
          <a:bodyPr/>
          <a:lstStyle/>
          <a:p>
            <a:fld id="{84145AC3-CC88-4C8A-A6CE-8D44921B6A23}" type="slidenum">
              <a:rPr lang="fr-FR" noProof="0" smtClean="0"/>
              <a:pPr/>
              <a:t>3</a:t>
            </a:fld>
            <a:endParaRPr lang="fr-FR" noProof="0" dirty="0"/>
          </a:p>
        </p:txBody>
      </p:sp>
      <p:pic>
        <p:nvPicPr>
          <p:cNvPr id="6" name="Image 5" descr="Une image contenant texte, Graphique, Police, graphisme&#10;&#10;Le contenu généré par l’IA peut être incorrect.">
            <a:extLst>
              <a:ext uri="{FF2B5EF4-FFF2-40B4-BE49-F238E27FC236}">
                <a16:creationId xmlns:a16="http://schemas.microsoft.com/office/drawing/2014/main" id="{A7A6C0C9-9D3F-77AF-9C04-6B7876C1E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053" y="5931581"/>
            <a:ext cx="1821084" cy="700691"/>
          </a:xfrm>
          <a:prstGeom prst="rect">
            <a:avLst/>
          </a:prstGeom>
        </p:spPr>
      </p:pic>
    </p:spTree>
    <p:extLst>
      <p:ext uri="{BB962C8B-B14F-4D97-AF65-F5344CB8AC3E}">
        <p14:creationId xmlns:p14="http://schemas.microsoft.com/office/powerpoint/2010/main" val="3111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F3DAE45-75E9-4C51-9D0C-4844443361FD}"/>
              </a:ext>
            </a:extLst>
          </p:cNvPr>
          <p:cNvSpPr>
            <a:spLocks noGrp="1"/>
          </p:cNvSpPr>
          <p:nvPr>
            <p:ph type="title"/>
          </p:nvPr>
        </p:nvSpPr>
        <p:spPr>
          <a:xfrm>
            <a:off x="880975" y="197047"/>
            <a:ext cx="11527805" cy="1089988"/>
          </a:xfrm>
        </p:spPr>
        <p:txBody>
          <a:bodyPr>
            <a:normAutofit/>
          </a:bodyPr>
          <a:lstStyle/>
          <a:p>
            <a:r>
              <a:rPr lang="fr-FR" sz="4800" b="1" noProof="0" dirty="0"/>
              <a:t>Design pattern</a:t>
            </a:r>
          </a:p>
        </p:txBody>
      </p:sp>
      <p:sp>
        <p:nvSpPr>
          <p:cNvPr id="21" name="Espace réservé du numéro de diapositive 20">
            <a:extLst>
              <a:ext uri="{FF2B5EF4-FFF2-40B4-BE49-F238E27FC236}">
                <a16:creationId xmlns:a16="http://schemas.microsoft.com/office/drawing/2014/main" id="{F92D5885-E142-554E-4723-BE9DE397C79A}"/>
              </a:ext>
            </a:extLst>
          </p:cNvPr>
          <p:cNvSpPr>
            <a:spLocks noGrp="1"/>
          </p:cNvSpPr>
          <p:nvPr>
            <p:ph type="sldNum" sz="quarter" idx="12"/>
          </p:nvPr>
        </p:nvSpPr>
        <p:spPr/>
        <p:txBody>
          <a:bodyPr/>
          <a:lstStyle/>
          <a:p>
            <a:fld id="{CC057153-B650-4DEB-B370-79DDCFDCE934}" type="slidenum">
              <a:rPr lang="fr-FR" noProof="0" smtClean="0"/>
              <a:t>4</a:t>
            </a:fld>
            <a:endParaRPr lang="fr-FR" noProof="0" dirty="0"/>
          </a:p>
        </p:txBody>
      </p:sp>
      <p:pic>
        <p:nvPicPr>
          <p:cNvPr id="1026" name="Picture 2" descr="Web development agency with CakePHP : App Design">
            <a:extLst>
              <a:ext uri="{FF2B5EF4-FFF2-40B4-BE49-F238E27FC236}">
                <a16:creationId xmlns:a16="http://schemas.microsoft.com/office/drawing/2014/main" id="{9AF7EFAA-B48E-82B6-D91D-F5F67DC83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120" y="895149"/>
            <a:ext cx="5109278" cy="275901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265F441D-51CE-588B-64F0-9AF7B2050811}"/>
              </a:ext>
            </a:extLst>
          </p:cNvPr>
          <p:cNvPicPr>
            <a:picLocks noChangeAspect="1"/>
          </p:cNvPicPr>
          <p:nvPr/>
        </p:nvPicPr>
        <p:blipFill>
          <a:blip r:embed="rId3"/>
          <a:stretch>
            <a:fillRect/>
          </a:stretch>
        </p:blipFill>
        <p:spPr>
          <a:xfrm>
            <a:off x="6096000" y="298580"/>
            <a:ext cx="3999722" cy="6148178"/>
          </a:xfrm>
          <a:prstGeom prst="rect">
            <a:avLst/>
          </a:prstGeom>
        </p:spPr>
      </p:pic>
      <p:sp>
        <p:nvSpPr>
          <p:cNvPr id="8" name="ZoneTexte 7">
            <a:extLst>
              <a:ext uri="{FF2B5EF4-FFF2-40B4-BE49-F238E27FC236}">
                <a16:creationId xmlns:a16="http://schemas.microsoft.com/office/drawing/2014/main" id="{720FD5D6-5FCC-D503-9C1B-D0AE8ADAE66A}"/>
              </a:ext>
            </a:extLst>
          </p:cNvPr>
          <p:cNvSpPr txBox="1"/>
          <p:nvPr/>
        </p:nvSpPr>
        <p:spPr>
          <a:xfrm>
            <a:off x="466531" y="3429000"/>
            <a:ext cx="5309118" cy="2308324"/>
          </a:xfrm>
          <a:prstGeom prst="rect">
            <a:avLst/>
          </a:prstGeom>
          <a:noFill/>
        </p:spPr>
        <p:txBody>
          <a:bodyPr wrap="square" rtlCol="0">
            <a:spAutoFit/>
          </a:bodyPr>
          <a:lstStyle/>
          <a:p>
            <a:r>
              <a:rPr lang="fr-FR" sz="2400" noProof="0" dirty="0"/>
              <a:t>Migration cake </a:t>
            </a:r>
            <a:r>
              <a:rPr lang="fr-FR" sz="2400" noProof="0" dirty="0" err="1"/>
              <a:t>php</a:t>
            </a:r>
            <a:r>
              <a:rPr lang="fr-FR" sz="2400" noProof="0" dirty="0"/>
              <a:t> : </a:t>
            </a:r>
          </a:p>
          <a:p>
            <a:endParaRPr lang="fr-FR" sz="2400" noProof="0" dirty="0"/>
          </a:p>
          <a:p>
            <a:pPr marL="342900" indent="-342900">
              <a:buFont typeface="Arial" panose="020B0604020202020204" pitchFamily="34" charset="0"/>
              <a:buChar char="•"/>
            </a:pPr>
            <a:r>
              <a:rPr lang="fr-FR" sz="2400" noProof="0" dirty="0"/>
              <a:t>3 semaines de travails</a:t>
            </a:r>
            <a:br>
              <a:rPr lang="fr-FR" sz="2400" noProof="0" dirty="0"/>
            </a:br>
            <a:endParaRPr lang="fr-FR" sz="2400" noProof="0" dirty="0"/>
          </a:p>
          <a:p>
            <a:pPr marL="342900" indent="-342900">
              <a:buFont typeface="Arial" panose="020B0604020202020204" pitchFamily="34" charset="0"/>
              <a:buChar char="•"/>
            </a:pPr>
            <a:r>
              <a:rPr lang="fr-FR" sz="2400" noProof="0" dirty="0"/>
              <a:t>refonte totale du fonctionnement de l’app</a:t>
            </a:r>
          </a:p>
        </p:txBody>
      </p:sp>
    </p:spTree>
    <p:extLst>
      <p:ext uri="{BB962C8B-B14F-4D97-AF65-F5344CB8AC3E}">
        <p14:creationId xmlns:p14="http://schemas.microsoft.com/office/powerpoint/2010/main" val="2799666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00FBAD-5C91-6BD4-D4F2-F87CCA9F01B4}"/>
              </a:ext>
            </a:extLst>
          </p:cNvPr>
          <p:cNvSpPr>
            <a:spLocks noGrp="1"/>
          </p:cNvSpPr>
          <p:nvPr>
            <p:ph type="title"/>
          </p:nvPr>
        </p:nvSpPr>
        <p:spPr>
          <a:xfrm>
            <a:off x="840114" y="494523"/>
            <a:ext cx="3657240" cy="810956"/>
          </a:xfrm>
        </p:spPr>
        <p:txBody>
          <a:bodyPr vert="horz" lIns="91440" tIns="45720" rIns="91440" bIns="45720" rtlCol="0" anchor="b">
            <a:normAutofit/>
          </a:bodyPr>
          <a:lstStyle/>
          <a:p>
            <a:pPr algn="ctr"/>
            <a:r>
              <a:rPr lang="fr-FR" b="1" kern="1200" noProof="0" dirty="0" err="1">
                <a:latin typeface="+mj-lt"/>
                <a:ea typeface="+mj-ea"/>
                <a:cs typeface="+mj-cs"/>
              </a:rPr>
              <a:t>camelCase</a:t>
            </a:r>
            <a:endParaRPr lang="fr-FR" sz="3000" b="1" kern="1200" noProof="0" dirty="0">
              <a:latin typeface="+mj-lt"/>
              <a:ea typeface="+mj-ea"/>
              <a:cs typeface="+mj-cs"/>
            </a:endParaRPr>
          </a:p>
        </p:txBody>
      </p:sp>
      <p:sp>
        <p:nvSpPr>
          <p:cNvPr id="7" name="Espace réservé du numéro de diapositive 6">
            <a:extLst>
              <a:ext uri="{FF2B5EF4-FFF2-40B4-BE49-F238E27FC236}">
                <a16:creationId xmlns:a16="http://schemas.microsoft.com/office/drawing/2014/main" id="{6F3CA2E0-C9EF-DE50-3CE0-693143D767A0}"/>
              </a:ext>
            </a:extLst>
          </p:cNvPr>
          <p:cNvSpPr>
            <a:spLocks noGrp="1"/>
          </p:cNvSpPr>
          <p:nvPr>
            <p:ph type="sldNum" sz="quarter" idx="12"/>
          </p:nvPr>
        </p:nvSpPr>
        <p:spPr/>
        <p:txBody>
          <a:bodyPr/>
          <a:lstStyle/>
          <a:p>
            <a:fld id="{CC057153-B650-4DEB-B370-79DDCFDCE934}" type="slidenum">
              <a:rPr lang="fr-FR" noProof="0" smtClean="0"/>
              <a:t>5</a:t>
            </a:fld>
            <a:endParaRPr lang="fr-FR" noProof="0" dirty="0"/>
          </a:p>
        </p:txBody>
      </p:sp>
      <p:pic>
        <p:nvPicPr>
          <p:cNvPr id="13" name="Image 12">
            <a:extLst>
              <a:ext uri="{FF2B5EF4-FFF2-40B4-BE49-F238E27FC236}">
                <a16:creationId xmlns:a16="http://schemas.microsoft.com/office/drawing/2014/main" id="{590F7F22-F719-FA06-825F-8E5952B8557C}"/>
              </a:ext>
            </a:extLst>
          </p:cNvPr>
          <p:cNvPicPr>
            <a:picLocks noChangeAspect="1"/>
          </p:cNvPicPr>
          <p:nvPr/>
        </p:nvPicPr>
        <p:blipFill>
          <a:blip r:embed="rId3"/>
          <a:stretch>
            <a:fillRect/>
          </a:stretch>
        </p:blipFill>
        <p:spPr>
          <a:xfrm>
            <a:off x="547496" y="1578473"/>
            <a:ext cx="8316486" cy="752580"/>
          </a:xfrm>
          <a:prstGeom prst="rect">
            <a:avLst/>
          </a:prstGeom>
        </p:spPr>
      </p:pic>
      <p:sp>
        <p:nvSpPr>
          <p:cNvPr id="17" name="ZoneTexte 16">
            <a:extLst>
              <a:ext uri="{FF2B5EF4-FFF2-40B4-BE49-F238E27FC236}">
                <a16:creationId xmlns:a16="http://schemas.microsoft.com/office/drawing/2014/main" id="{59C386F1-7C53-E67B-F398-EEA98B5A06F4}"/>
              </a:ext>
            </a:extLst>
          </p:cNvPr>
          <p:cNvSpPr txBox="1"/>
          <p:nvPr/>
        </p:nvSpPr>
        <p:spPr>
          <a:xfrm>
            <a:off x="547496" y="3972122"/>
            <a:ext cx="4328527" cy="1692771"/>
          </a:xfrm>
          <a:prstGeom prst="rect">
            <a:avLst/>
          </a:prstGeom>
          <a:noFill/>
        </p:spPr>
        <p:txBody>
          <a:bodyPr wrap="square">
            <a:spAutoFit/>
          </a:bodyPr>
          <a:lstStyle/>
          <a:p>
            <a:pPr marL="285750" indent="-285750">
              <a:buFont typeface="Arial" panose="020B0604020202020204" pitchFamily="34" charset="0"/>
              <a:buChar char="•"/>
            </a:pPr>
            <a:r>
              <a:rPr lang="fr-FR" sz="2400" noProof="0" dirty="0"/>
              <a:t>Optimisation de la lisibilité</a:t>
            </a:r>
          </a:p>
          <a:p>
            <a:pPr marL="285750" indent="-285750">
              <a:buFont typeface="Arial" panose="020B0604020202020204" pitchFamily="34" charset="0"/>
              <a:buChar char="•"/>
            </a:pPr>
            <a:endParaRPr lang="fr-FR" sz="2400" noProof="0" dirty="0"/>
          </a:p>
          <a:p>
            <a:pPr marL="285750" indent="-285750">
              <a:buFont typeface="Arial" panose="020B0604020202020204" pitchFamily="34" charset="0"/>
              <a:buChar char="•"/>
            </a:pPr>
            <a:r>
              <a:rPr lang="fr-FR" sz="2400" noProof="0" dirty="0"/>
              <a:t>Normalisation du code </a:t>
            </a:r>
          </a:p>
          <a:p>
            <a:pPr marL="285750" indent="-285750">
              <a:buFont typeface="Arial" panose="020B0604020202020204" pitchFamily="34" charset="0"/>
              <a:buChar char="•"/>
            </a:pPr>
            <a:endParaRPr lang="fr-FR" sz="3200" noProof="0" dirty="0"/>
          </a:p>
        </p:txBody>
      </p:sp>
      <p:pic>
        <p:nvPicPr>
          <p:cNvPr id="2050" name="Picture 2" descr="Camel case — Wikipédia">
            <a:extLst>
              <a:ext uri="{FF2B5EF4-FFF2-40B4-BE49-F238E27FC236}">
                <a16:creationId xmlns:a16="http://schemas.microsoft.com/office/drawing/2014/main" id="{80D79375-3B32-6F68-2AEA-644774F87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023" y="2723046"/>
            <a:ext cx="5247692" cy="3796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24881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138D32-1C3D-0680-9C8E-93F07511F687}"/>
              </a:ext>
            </a:extLst>
          </p:cNvPr>
          <p:cNvSpPr>
            <a:spLocks noGrp="1"/>
          </p:cNvSpPr>
          <p:nvPr>
            <p:ph type="title"/>
          </p:nvPr>
        </p:nvSpPr>
        <p:spPr>
          <a:xfrm>
            <a:off x="429767" y="553617"/>
            <a:ext cx="3731685" cy="519404"/>
          </a:xfrm>
        </p:spPr>
        <p:txBody>
          <a:bodyPr vert="horz" lIns="91440" tIns="45720" rIns="91440" bIns="45720" rtlCol="0" anchor="t">
            <a:normAutofit/>
          </a:bodyPr>
          <a:lstStyle/>
          <a:p>
            <a:pPr algn="ctr"/>
            <a:r>
              <a:rPr lang="fr-FR" sz="3000" b="1" kern="1200" noProof="0" dirty="0" err="1">
                <a:latin typeface="+mj-lt"/>
                <a:ea typeface="+mj-ea"/>
                <a:cs typeface="+mj-cs"/>
              </a:rPr>
              <a:t>Documentarisation</a:t>
            </a:r>
            <a:endParaRPr lang="fr-FR" sz="3000" b="1" kern="1200" noProof="0" dirty="0">
              <a:latin typeface="+mj-lt"/>
              <a:ea typeface="+mj-ea"/>
              <a:cs typeface="+mj-cs"/>
            </a:endParaRPr>
          </a:p>
        </p:txBody>
      </p:sp>
      <p:sp>
        <p:nvSpPr>
          <p:cNvPr id="7" name="Espace réservé du numéro de diapositive 6">
            <a:extLst>
              <a:ext uri="{FF2B5EF4-FFF2-40B4-BE49-F238E27FC236}">
                <a16:creationId xmlns:a16="http://schemas.microsoft.com/office/drawing/2014/main" id="{6CB7E7B5-5390-017B-3AF9-2369AB428A78}"/>
              </a:ext>
            </a:extLst>
          </p:cNvPr>
          <p:cNvSpPr>
            <a:spLocks noGrp="1"/>
          </p:cNvSpPr>
          <p:nvPr>
            <p:ph type="sldNum" sz="quarter" idx="12"/>
          </p:nvPr>
        </p:nvSpPr>
        <p:spPr/>
        <p:txBody>
          <a:bodyPr/>
          <a:lstStyle/>
          <a:p>
            <a:fld id="{CC057153-B650-4DEB-B370-79DDCFDCE934}" type="slidenum">
              <a:rPr lang="fr-FR" noProof="0" smtClean="0"/>
              <a:t>6</a:t>
            </a:fld>
            <a:endParaRPr lang="fr-FR" noProof="0" dirty="0"/>
          </a:p>
        </p:txBody>
      </p:sp>
      <p:sp>
        <p:nvSpPr>
          <p:cNvPr id="3" name="ZoneTexte 2">
            <a:extLst>
              <a:ext uri="{FF2B5EF4-FFF2-40B4-BE49-F238E27FC236}">
                <a16:creationId xmlns:a16="http://schemas.microsoft.com/office/drawing/2014/main" id="{2EFA7D96-8B47-0A23-DEBB-0FCEE550BEDB}"/>
              </a:ext>
            </a:extLst>
          </p:cNvPr>
          <p:cNvSpPr txBox="1"/>
          <p:nvPr/>
        </p:nvSpPr>
        <p:spPr>
          <a:xfrm>
            <a:off x="1180601" y="1527916"/>
            <a:ext cx="2230016" cy="1569660"/>
          </a:xfrm>
          <a:prstGeom prst="rect">
            <a:avLst/>
          </a:prstGeom>
          <a:noFill/>
        </p:spPr>
        <p:txBody>
          <a:bodyPr wrap="square" rtlCol="0">
            <a:spAutoFit/>
          </a:bodyPr>
          <a:lstStyle/>
          <a:p>
            <a:pPr marL="342900" indent="-342900">
              <a:buFont typeface="Arial" panose="020B0604020202020204" pitchFamily="34" charset="0"/>
              <a:buChar char="•"/>
            </a:pPr>
            <a:r>
              <a:rPr lang="fr-FR" sz="2800" noProof="0" dirty="0" err="1"/>
              <a:t>PHPDoc</a:t>
            </a:r>
            <a:br>
              <a:rPr lang="fr-FR" sz="2800" noProof="0" dirty="0"/>
            </a:br>
            <a:endParaRPr lang="fr-FR" sz="2000" noProof="0" dirty="0"/>
          </a:p>
          <a:p>
            <a:pPr marL="342900" indent="-342900">
              <a:buFont typeface="Arial" panose="020B0604020202020204" pitchFamily="34" charset="0"/>
              <a:buChar char="•"/>
            </a:pPr>
            <a:r>
              <a:rPr lang="fr-FR" sz="2800" noProof="0" dirty="0" err="1"/>
              <a:t>JSDoc</a:t>
            </a:r>
            <a:endParaRPr lang="fr-FR" sz="2000" noProof="0" dirty="0"/>
          </a:p>
          <a:p>
            <a:endParaRPr lang="fr-FR" sz="2000" noProof="0" dirty="0"/>
          </a:p>
        </p:txBody>
      </p:sp>
      <p:pic>
        <p:nvPicPr>
          <p:cNvPr id="6" name="Image 5">
            <a:extLst>
              <a:ext uri="{FF2B5EF4-FFF2-40B4-BE49-F238E27FC236}">
                <a16:creationId xmlns:a16="http://schemas.microsoft.com/office/drawing/2014/main" id="{3F9B2FF4-9122-98CF-732F-FE18EEF8627B}"/>
              </a:ext>
            </a:extLst>
          </p:cNvPr>
          <p:cNvPicPr>
            <a:picLocks noChangeAspect="1"/>
          </p:cNvPicPr>
          <p:nvPr/>
        </p:nvPicPr>
        <p:blipFill>
          <a:blip r:embed="rId3"/>
          <a:stretch>
            <a:fillRect/>
          </a:stretch>
        </p:blipFill>
        <p:spPr>
          <a:xfrm>
            <a:off x="4996643" y="155577"/>
            <a:ext cx="6936277" cy="3273423"/>
          </a:xfrm>
          <a:prstGeom prst="rect">
            <a:avLst/>
          </a:prstGeom>
        </p:spPr>
      </p:pic>
      <p:pic>
        <p:nvPicPr>
          <p:cNvPr id="10" name="Image 9">
            <a:extLst>
              <a:ext uri="{FF2B5EF4-FFF2-40B4-BE49-F238E27FC236}">
                <a16:creationId xmlns:a16="http://schemas.microsoft.com/office/drawing/2014/main" id="{4C77B1D6-BA3C-BCF5-A0ED-ED4353D2DBD8}"/>
              </a:ext>
            </a:extLst>
          </p:cNvPr>
          <p:cNvPicPr>
            <a:picLocks noChangeAspect="1"/>
          </p:cNvPicPr>
          <p:nvPr/>
        </p:nvPicPr>
        <p:blipFill>
          <a:blip r:embed="rId4"/>
          <a:stretch>
            <a:fillRect/>
          </a:stretch>
        </p:blipFill>
        <p:spPr>
          <a:xfrm>
            <a:off x="142403" y="3552471"/>
            <a:ext cx="7112212" cy="3149952"/>
          </a:xfrm>
          <a:prstGeom prst="rect">
            <a:avLst/>
          </a:prstGeom>
        </p:spPr>
      </p:pic>
    </p:spTree>
    <p:extLst>
      <p:ext uri="{BB962C8B-B14F-4D97-AF65-F5344CB8AC3E}">
        <p14:creationId xmlns:p14="http://schemas.microsoft.com/office/powerpoint/2010/main" val="21081555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304E48"/>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185B84-2E7D-A136-38F1-02A4BC2B32FA}"/>
              </a:ext>
            </a:extLst>
          </p:cNvPr>
          <p:cNvSpPr>
            <a:spLocks noGrp="1"/>
          </p:cNvSpPr>
          <p:nvPr>
            <p:ph type="title"/>
          </p:nvPr>
        </p:nvSpPr>
        <p:spPr>
          <a:xfrm>
            <a:off x="429768" y="1810512"/>
            <a:ext cx="7772400" cy="4562856"/>
          </a:xfrm>
        </p:spPr>
        <p:txBody>
          <a:bodyPr anchor="b">
            <a:normAutofit/>
          </a:bodyPr>
          <a:lstStyle/>
          <a:p>
            <a:r>
              <a:rPr lang="fr-FR" noProof="0" dirty="0">
                <a:solidFill>
                  <a:schemeClr val="tx1">
                    <a:lumMod val="10000"/>
                    <a:lumOff val="90000"/>
                  </a:schemeClr>
                </a:solidFill>
              </a:rPr>
              <a:t>Optimisation technique</a:t>
            </a:r>
          </a:p>
        </p:txBody>
      </p:sp>
      <p:sp>
        <p:nvSpPr>
          <p:cNvPr id="4" name="Espace réservé du numéro de diapositive 3">
            <a:extLst>
              <a:ext uri="{FF2B5EF4-FFF2-40B4-BE49-F238E27FC236}">
                <a16:creationId xmlns:a16="http://schemas.microsoft.com/office/drawing/2014/main" id="{5EEFC54B-11B0-FAC2-DFBB-08B319627CBD}"/>
              </a:ext>
            </a:extLst>
          </p:cNvPr>
          <p:cNvSpPr>
            <a:spLocks noGrp="1"/>
          </p:cNvSpPr>
          <p:nvPr>
            <p:ph type="sldNum" sz="quarter" idx="12"/>
          </p:nvPr>
        </p:nvSpPr>
        <p:spPr/>
        <p:txBody>
          <a:bodyPr/>
          <a:lstStyle/>
          <a:p>
            <a:fld id="{84145AC3-CC88-4C8A-A6CE-8D44921B6A23}" type="slidenum">
              <a:rPr lang="fr-FR" noProof="0" smtClean="0"/>
              <a:pPr/>
              <a:t>7</a:t>
            </a:fld>
            <a:endParaRPr lang="fr-FR" noProof="0" dirty="0"/>
          </a:p>
        </p:txBody>
      </p:sp>
      <p:pic>
        <p:nvPicPr>
          <p:cNvPr id="9" name="Image 8" descr="Une image contenant texte, Graphique, Police, graphisme&#10;&#10;Le contenu généré par l’IA peut être incorrect.">
            <a:extLst>
              <a:ext uri="{FF2B5EF4-FFF2-40B4-BE49-F238E27FC236}">
                <a16:creationId xmlns:a16="http://schemas.microsoft.com/office/drawing/2014/main" id="{DBD121A8-6E45-52C2-A357-B1808799B9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053" y="5931581"/>
            <a:ext cx="1821084" cy="700691"/>
          </a:xfrm>
          <a:prstGeom prst="rect">
            <a:avLst/>
          </a:prstGeom>
        </p:spPr>
      </p:pic>
    </p:spTree>
    <p:extLst>
      <p:ext uri="{BB962C8B-B14F-4D97-AF65-F5344CB8AC3E}">
        <p14:creationId xmlns:p14="http://schemas.microsoft.com/office/powerpoint/2010/main" val="6314269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0F0444-D9E6-96DC-785E-FC253212FE5B}"/>
              </a:ext>
            </a:extLst>
          </p:cNvPr>
          <p:cNvSpPr>
            <a:spLocks noGrp="1"/>
          </p:cNvSpPr>
          <p:nvPr>
            <p:ph type="title"/>
          </p:nvPr>
        </p:nvSpPr>
        <p:spPr>
          <a:xfrm>
            <a:off x="429768" y="545636"/>
            <a:ext cx="5242367" cy="571500"/>
          </a:xfrm>
        </p:spPr>
        <p:txBody>
          <a:bodyPr vert="horz" lIns="91440" tIns="45720" rIns="91440" bIns="45720" rtlCol="0" anchor="b">
            <a:normAutofit/>
          </a:bodyPr>
          <a:lstStyle/>
          <a:p>
            <a:pPr algn="ctr"/>
            <a:r>
              <a:rPr lang="fr-FR" sz="3000" b="1" kern="1200" noProof="0" dirty="0">
                <a:latin typeface="+mj-lt"/>
                <a:ea typeface="+mj-ea"/>
                <a:cs typeface="+mj-cs"/>
              </a:rPr>
              <a:t>Refonte du CSS</a:t>
            </a:r>
          </a:p>
        </p:txBody>
      </p:sp>
      <p:sp>
        <p:nvSpPr>
          <p:cNvPr id="5" name="ZoneTexte 4">
            <a:extLst>
              <a:ext uri="{FF2B5EF4-FFF2-40B4-BE49-F238E27FC236}">
                <a16:creationId xmlns:a16="http://schemas.microsoft.com/office/drawing/2014/main" id="{33727678-10BB-467A-A6A9-21AF1CE99F2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600309"/>
            <a:ext cx="4697817" cy="3483980"/>
          </a:xfrm>
          <a:prstGeom prst="rect">
            <a:avLst/>
          </a:prstGeom>
        </p:spPr>
        <p:txBody>
          <a:bodyPr anchor="ctr">
            <a:noAutofit/>
          </a:bodyPr>
          <a:lstStyle/>
          <a:p>
            <a:pPr marL="342900" indent="-342900" algn="ctr">
              <a:spcBef>
                <a:spcPts val="2500"/>
              </a:spcBef>
              <a:spcAft>
                <a:spcPts val="600"/>
              </a:spcAft>
              <a:buFont typeface="Arial" panose="020B0604020202020204" pitchFamily="34" charset="0"/>
              <a:buChar char="•"/>
            </a:pPr>
            <a:r>
              <a:rPr lang="fr-FR" sz="2400" b="1" noProof="0" dirty="0"/>
              <a:t>Harmonisation des fichiers</a:t>
            </a:r>
          </a:p>
          <a:p>
            <a:pPr marL="342900" indent="-342900" algn="ctr">
              <a:spcBef>
                <a:spcPts val="2500"/>
              </a:spcBef>
              <a:spcAft>
                <a:spcPts val="600"/>
              </a:spcAft>
              <a:buFont typeface="Arial" panose="020B0604020202020204" pitchFamily="34" charset="0"/>
              <a:buChar char="•"/>
            </a:pPr>
            <a:r>
              <a:rPr lang="fr-FR" sz="2400" b="1" noProof="0" dirty="0"/>
              <a:t>Suppression de parties obsolète	</a:t>
            </a:r>
          </a:p>
        </p:txBody>
      </p:sp>
      <p:sp>
        <p:nvSpPr>
          <p:cNvPr id="6" name="Espace réservé du numéro de diapositive 5">
            <a:extLst>
              <a:ext uri="{FF2B5EF4-FFF2-40B4-BE49-F238E27FC236}">
                <a16:creationId xmlns:a16="http://schemas.microsoft.com/office/drawing/2014/main" id="{0E5122E8-1BDD-4098-FA31-BDF9854BD769}"/>
              </a:ext>
            </a:extLst>
          </p:cNvPr>
          <p:cNvSpPr>
            <a:spLocks noGrp="1"/>
          </p:cNvSpPr>
          <p:nvPr>
            <p:ph type="sldNum" sz="quarter" idx="12"/>
          </p:nvPr>
        </p:nvSpPr>
        <p:spPr/>
        <p:txBody>
          <a:bodyPr/>
          <a:lstStyle/>
          <a:p>
            <a:fld id="{CC057153-B650-4DEB-B370-79DDCFDCE934}" type="slidenum">
              <a:rPr lang="fr-FR" noProof="0" smtClean="0"/>
              <a:pPr/>
              <a:t>8</a:t>
            </a:fld>
            <a:endParaRPr lang="fr-FR" noProof="0" dirty="0"/>
          </a:p>
        </p:txBody>
      </p:sp>
      <p:pic>
        <p:nvPicPr>
          <p:cNvPr id="9" name="Image 8">
            <a:extLst>
              <a:ext uri="{FF2B5EF4-FFF2-40B4-BE49-F238E27FC236}">
                <a16:creationId xmlns:a16="http://schemas.microsoft.com/office/drawing/2014/main" id="{FAE69406-279C-7984-DE5C-5E9D67036371}"/>
              </a:ext>
            </a:extLst>
          </p:cNvPr>
          <p:cNvPicPr>
            <a:picLocks noChangeAspect="1"/>
          </p:cNvPicPr>
          <p:nvPr/>
        </p:nvPicPr>
        <p:blipFill>
          <a:blip r:embed="rId3"/>
          <a:stretch>
            <a:fillRect/>
          </a:stretch>
        </p:blipFill>
        <p:spPr>
          <a:xfrm>
            <a:off x="5938922" y="278753"/>
            <a:ext cx="4177352" cy="6300494"/>
          </a:xfrm>
          <a:prstGeom prst="rect">
            <a:avLst/>
          </a:prstGeom>
        </p:spPr>
      </p:pic>
    </p:spTree>
    <p:extLst>
      <p:ext uri="{BB962C8B-B14F-4D97-AF65-F5344CB8AC3E}">
        <p14:creationId xmlns:p14="http://schemas.microsoft.com/office/powerpoint/2010/main" val="2555477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4EFDCA-3488-C2F3-3336-A40723F5C83F}"/>
              </a:ext>
            </a:extLst>
          </p:cNvPr>
          <p:cNvSpPr>
            <a:spLocks noGrp="1"/>
          </p:cNvSpPr>
          <p:nvPr>
            <p:ph type="title"/>
          </p:nvPr>
        </p:nvSpPr>
        <p:spPr>
          <a:xfrm>
            <a:off x="3712061" y="23748"/>
            <a:ext cx="4767878" cy="1063474"/>
          </a:xfrm>
        </p:spPr>
        <p:txBody>
          <a:bodyPr vert="horz" lIns="91440" tIns="45720" rIns="91440" bIns="45720" rtlCol="0" anchor="b">
            <a:normAutofit/>
          </a:bodyPr>
          <a:lstStyle/>
          <a:p>
            <a:pPr algn="ctr"/>
            <a:r>
              <a:rPr lang="fr-FR" sz="3000" b="1" kern="1200" noProof="0" dirty="0">
                <a:latin typeface="+mj-lt"/>
                <a:ea typeface="+mj-ea"/>
                <a:cs typeface="+mj-cs"/>
              </a:rPr>
              <a:t>Refonte des fichier JS</a:t>
            </a:r>
          </a:p>
        </p:txBody>
      </p:sp>
      <p:sp>
        <p:nvSpPr>
          <p:cNvPr id="28" name="Espace réservé du numéro de diapositive 27">
            <a:extLst>
              <a:ext uri="{FF2B5EF4-FFF2-40B4-BE49-F238E27FC236}">
                <a16:creationId xmlns:a16="http://schemas.microsoft.com/office/drawing/2014/main" id="{90544E28-6D51-685D-2D5B-8AE8BA60F54F}"/>
              </a:ext>
            </a:extLst>
          </p:cNvPr>
          <p:cNvSpPr>
            <a:spLocks noGrp="1"/>
          </p:cNvSpPr>
          <p:nvPr>
            <p:ph type="sldNum" sz="quarter" idx="12"/>
          </p:nvPr>
        </p:nvSpPr>
        <p:spPr/>
        <p:txBody>
          <a:bodyPr/>
          <a:lstStyle/>
          <a:p>
            <a:fld id="{CC057153-B650-4DEB-B370-79DDCFDCE934}" type="slidenum">
              <a:rPr lang="fr-FR" noProof="0" smtClean="0"/>
              <a:t>9</a:t>
            </a:fld>
            <a:endParaRPr lang="fr-FR" noProof="0" dirty="0"/>
          </a:p>
        </p:txBody>
      </p:sp>
      <p:pic>
        <p:nvPicPr>
          <p:cNvPr id="4" name="Image 3">
            <a:extLst>
              <a:ext uri="{FF2B5EF4-FFF2-40B4-BE49-F238E27FC236}">
                <a16:creationId xmlns:a16="http://schemas.microsoft.com/office/drawing/2014/main" id="{B628026E-64DC-CE99-6B58-4020C5BFED02}"/>
              </a:ext>
            </a:extLst>
          </p:cNvPr>
          <p:cNvPicPr>
            <a:picLocks noChangeAspect="1"/>
          </p:cNvPicPr>
          <p:nvPr/>
        </p:nvPicPr>
        <p:blipFill>
          <a:blip r:embed="rId3"/>
          <a:stretch>
            <a:fillRect/>
          </a:stretch>
        </p:blipFill>
        <p:spPr>
          <a:xfrm>
            <a:off x="6945836" y="1654716"/>
            <a:ext cx="4987084" cy="4207851"/>
          </a:xfrm>
          <a:prstGeom prst="rect">
            <a:avLst/>
          </a:prstGeom>
        </p:spPr>
      </p:pic>
      <p:pic>
        <p:nvPicPr>
          <p:cNvPr id="7" name="Image 6">
            <a:extLst>
              <a:ext uri="{FF2B5EF4-FFF2-40B4-BE49-F238E27FC236}">
                <a16:creationId xmlns:a16="http://schemas.microsoft.com/office/drawing/2014/main" id="{DCA673CA-6805-DD26-E049-8D1D788B87F2}"/>
              </a:ext>
            </a:extLst>
          </p:cNvPr>
          <p:cNvPicPr>
            <a:picLocks noChangeAspect="1"/>
          </p:cNvPicPr>
          <p:nvPr/>
        </p:nvPicPr>
        <p:blipFill>
          <a:blip r:embed="rId4"/>
          <a:stretch>
            <a:fillRect/>
          </a:stretch>
        </p:blipFill>
        <p:spPr>
          <a:xfrm>
            <a:off x="259080" y="1654927"/>
            <a:ext cx="5230861" cy="4207640"/>
          </a:xfrm>
          <a:prstGeom prst="rect">
            <a:avLst/>
          </a:prstGeom>
        </p:spPr>
      </p:pic>
      <p:sp>
        <p:nvSpPr>
          <p:cNvPr id="8" name="Flèche : droite 7">
            <a:extLst>
              <a:ext uri="{FF2B5EF4-FFF2-40B4-BE49-F238E27FC236}">
                <a16:creationId xmlns:a16="http://schemas.microsoft.com/office/drawing/2014/main" id="{D2546C22-244F-6B5D-EA1F-A34162377980}"/>
              </a:ext>
            </a:extLst>
          </p:cNvPr>
          <p:cNvSpPr/>
          <p:nvPr/>
        </p:nvSpPr>
        <p:spPr>
          <a:xfrm>
            <a:off x="5489941" y="3190936"/>
            <a:ext cx="1455895" cy="1063474"/>
          </a:xfrm>
          <a:prstGeom prst="rightArrow">
            <a:avLst/>
          </a:prstGeom>
          <a:solidFill>
            <a:srgbClr val="304E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201185704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7F0E1-7F8F-0D30-6582-C1889D7645D0}"/>
              </a:ext>
            </a:extLst>
          </p:cNvPr>
          <p:cNvSpPr>
            <a:spLocks noGrp="1"/>
          </p:cNvSpPr>
          <p:nvPr>
            <p:ph type="title"/>
          </p:nvPr>
        </p:nvSpPr>
        <p:spPr>
          <a:xfrm>
            <a:off x="2303106" y="401223"/>
            <a:ext cx="7585787" cy="740664"/>
          </a:xfrm>
        </p:spPr>
        <p:txBody>
          <a:bodyPr>
            <a:normAutofit/>
          </a:bodyPr>
          <a:lstStyle/>
          <a:p>
            <a:pPr algn="ctr"/>
            <a:r>
              <a:rPr lang="fr-FR" sz="3000" b="1" dirty="0"/>
              <a:t>Schématisation de l’optimisation du JS </a:t>
            </a:r>
          </a:p>
        </p:txBody>
      </p:sp>
      <p:sp>
        <p:nvSpPr>
          <p:cNvPr id="5" name="Espace réservé du numéro de diapositive 4">
            <a:extLst>
              <a:ext uri="{FF2B5EF4-FFF2-40B4-BE49-F238E27FC236}">
                <a16:creationId xmlns:a16="http://schemas.microsoft.com/office/drawing/2014/main" id="{729126A6-DB67-AD63-7950-68CB2F67845B}"/>
              </a:ext>
            </a:extLst>
          </p:cNvPr>
          <p:cNvSpPr>
            <a:spLocks noGrp="1"/>
          </p:cNvSpPr>
          <p:nvPr>
            <p:ph type="sldNum" sz="quarter" idx="12"/>
          </p:nvPr>
        </p:nvSpPr>
        <p:spPr/>
        <p:txBody>
          <a:bodyPr/>
          <a:lstStyle/>
          <a:p>
            <a:fld id="{CC057153-B650-4DEB-B370-79DDCFDCE934}" type="slidenum">
              <a:rPr lang="en-US" smtClean="0"/>
              <a:t>10</a:t>
            </a:fld>
            <a:endParaRPr lang="en-US" dirty="0"/>
          </a:p>
        </p:txBody>
      </p:sp>
      <p:pic>
        <p:nvPicPr>
          <p:cNvPr id="1026" name="Picture 2" descr="Initiez-vous au fonctionnement des API - OpenClassrooms">
            <a:extLst>
              <a:ext uri="{FF2B5EF4-FFF2-40B4-BE49-F238E27FC236}">
                <a16:creationId xmlns:a16="http://schemas.microsoft.com/office/drawing/2014/main" id="{9DFCE47A-ECA4-7C99-2CC2-A41FA2C3816A}"/>
              </a:ext>
            </a:extLst>
          </p:cNvPr>
          <p:cNvPicPr>
            <a:picLocks noChangeAspect="1" noChangeArrowheads="1"/>
          </p:cNvPicPr>
          <p:nvPr/>
        </p:nvPicPr>
        <p:blipFill>
          <a:blip r:embed="rId2">
            <a:alphaModFix/>
            <a:extLst>
              <a:ext uri="{BEBA8EAE-BF5A-486C-A8C5-ECC9F3942E4B}">
                <a14:imgProps xmlns:a14="http://schemas.microsoft.com/office/drawing/2010/main">
                  <a14:imgLayer r:embed="rId3">
                    <a14:imgEffect>
                      <a14:colorTemperature colorTemp="8006"/>
                    </a14:imgEffect>
                  </a14:imgLayer>
                </a14:imgProps>
              </a:ext>
              <a:ext uri="{28A0092B-C50C-407E-A947-70E740481C1C}">
                <a14:useLocalDpi xmlns:a14="http://schemas.microsoft.com/office/drawing/2010/main" val="0"/>
              </a:ext>
            </a:extLst>
          </a:blip>
          <a:srcRect/>
          <a:stretch>
            <a:fillRect/>
          </a:stretch>
        </p:blipFill>
        <p:spPr bwMode="auto">
          <a:xfrm>
            <a:off x="1078970" y="1674844"/>
            <a:ext cx="10034058" cy="3508311"/>
          </a:xfrm>
          <a:prstGeom prst="rect">
            <a:avLst/>
          </a:prstGeom>
          <a:solidFill>
            <a:schemeClr val="bg2"/>
          </a:solidFill>
        </p:spPr>
      </p:pic>
    </p:spTree>
    <p:extLst>
      <p:ext uri="{BB962C8B-B14F-4D97-AF65-F5344CB8AC3E}">
        <p14:creationId xmlns:p14="http://schemas.microsoft.com/office/powerpoint/2010/main" val="2886000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304E48"/>
        </a:solidFill>
        <a:effectLst/>
      </p:bgPr>
    </p:bg>
    <p:spTree>
      <p:nvGrpSpPr>
        <p:cNvPr id="1" name="">
          <a:extLst>
            <a:ext uri="{FF2B5EF4-FFF2-40B4-BE49-F238E27FC236}">
              <a16:creationId xmlns:a16="http://schemas.microsoft.com/office/drawing/2014/main" id="{17748D13-F1CF-06B3-B13F-6C5C9E9984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2DA20E-4DE9-C1F5-6052-378162D6EE41}"/>
              </a:ext>
            </a:extLst>
          </p:cNvPr>
          <p:cNvSpPr>
            <a:spLocks noGrp="1"/>
          </p:cNvSpPr>
          <p:nvPr>
            <p:ph type="title"/>
          </p:nvPr>
        </p:nvSpPr>
        <p:spPr>
          <a:xfrm>
            <a:off x="429767" y="1810512"/>
            <a:ext cx="9918000" cy="4562856"/>
          </a:xfrm>
        </p:spPr>
        <p:txBody>
          <a:bodyPr anchor="b">
            <a:normAutofit/>
          </a:bodyPr>
          <a:lstStyle/>
          <a:p>
            <a:r>
              <a:rPr lang="fr-FR" noProof="0" dirty="0">
                <a:solidFill>
                  <a:schemeClr val="bg1"/>
                </a:solidFill>
              </a:rPr>
              <a:t>Optimisation des axes d'amélioration identifiés</a:t>
            </a:r>
          </a:p>
        </p:txBody>
      </p:sp>
      <p:sp>
        <p:nvSpPr>
          <p:cNvPr id="4" name="Espace réservé du numéro de diapositive 3">
            <a:extLst>
              <a:ext uri="{FF2B5EF4-FFF2-40B4-BE49-F238E27FC236}">
                <a16:creationId xmlns:a16="http://schemas.microsoft.com/office/drawing/2014/main" id="{6B9DE2B1-415B-A6A2-A287-984851881658}"/>
              </a:ext>
            </a:extLst>
          </p:cNvPr>
          <p:cNvSpPr>
            <a:spLocks noGrp="1"/>
          </p:cNvSpPr>
          <p:nvPr>
            <p:ph type="sldNum" sz="quarter" idx="12"/>
          </p:nvPr>
        </p:nvSpPr>
        <p:spPr/>
        <p:txBody>
          <a:bodyPr/>
          <a:lstStyle/>
          <a:p>
            <a:fld id="{84145AC3-CC88-4C8A-A6CE-8D44921B6A23}" type="slidenum">
              <a:rPr lang="fr-FR" noProof="0" smtClean="0"/>
              <a:pPr/>
              <a:t>11</a:t>
            </a:fld>
            <a:endParaRPr lang="fr-FR" noProof="0" dirty="0"/>
          </a:p>
        </p:txBody>
      </p:sp>
      <p:pic>
        <p:nvPicPr>
          <p:cNvPr id="9" name="Image 8" descr="Une image contenant texte, Graphique, Police, graphisme&#10;&#10;Le contenu généré par l’IA peut être incorrect.">
            <a:extLst>
              <a:ext uri="{FF2B5EF4-FFF2-40B4-BE49-F238E27FC236}">
                <a16:creationId xmlns:a16="http://schemas.microsoft.com/office/drawing/2014/main" id="{D4D9F14A-30E4-5DEC-526D-ADC6B673D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053" y="5931581"/>
            <a:ext cx="1821084" cy="700691"/>
          </a:xfrm>
          <a:prstGeom prst="rect">
            <a:avLst/>
          </a:prstGeom>
        </p:spPr>
      </p:pic>
    </p:spTree>
    <p:extLst>
      <p:ext uri="{BB962C8B-B14F-4D97-AF65-F5344CB8AC3E}">
        <p14:creationId xmlns:p14="http://schemas.microsoft.com/office/powerpoint/2010/main" val="1157653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8212FC1-8238-B394-6B3A-163B27756153}"/>
              </a:ext>
            </a:extLst>
          </p:cNvPr>
          <p:cNvSpPr>
            <a:spLocks noGrp="1"/>
          </p:cNvSpPr>
          <p:nvPr>
            <p:ph type="sldNum" sz="quarter" idx="12"/>
          </p:nvPr>
        </p:nvSpPr>
        <p:spPr/>
        <p:txBody>
          <a:bodyPr/>
          <a:lstStyle/>
          <a:p>
            <a:fld id="{84145AC3-CC88-4C8A-A6CE-8D44921B6A23}" type="slidenum">
              <a:rPr lang="en-US" smtClean="0"/>
              <a:pPr/>
              <a:t>12</a:t>
            </a:fld>
            <a:endParaRPr lang="en-US" dirty="0"/>
          </a:p>
        </p:txBody>
      </p:sp>
      <p:pic>
        <p:nvPicPr>
          <p:cNvPr id="6" name="Image 5">
            <a:extLst>
              <a:ext uri="{FF2B5EF4-FFF2-40B4-BE49-F238E27FC236}">
                <a16:creationId xmlns:a16="http://schemas.microsoft.com/office/drawing/2014/main" id="{20A5B55D-2C31-E168-7502-887FB9CF6527}"/>
              </a:ext>
            </a:extLst>
          </p:cNvPr>
          <p:cNvPicPr>
            <a:picLocks noChangeAspect="1"/>
          </p:cNvPicPr>
          <p:nvPr/>
        </p:nvPicPr>
        <p:blipFill>
          <a:blip r:embed="rId2"/>
          <a:stretch>
            <a:fillRect/>
          </a:stretch>
        </p:blipFill>
        <p:spPr>
          <a:xfrm>
            <a:off x="6671388" y="292461"/>
            <a:ext cx="5450078" cy="3523794"/>
          </a:xfrm>
          <a:prstGeom prst="rect">
            <a:avLst/>
          </a:prstGeom>
        </p:spPr>
      </p:pic>
      <p:pic>
        <p:nvPicPr>
          <p:cNvPr id="8" name="Image 7">
            <a:extLst>
              <a:ext uri="{FF2B5EF4-FFF2-40B4-BE49-F238E27FC236}">
                <a16:creationId xmlns:a16="http://schemas.microsoft.com/office/drawing/2014/main" id="{7C120457-0D89-5B76-2B55-C4CA9C225463}"/>
              </a:ext>
            </a:extLst>
          </p:cNvPr>
          <p:cNvPicPr>
            <a:picLocks noChangeAspect="1"/>
          </p:cNvPicPr>
          <p:nvPr/>
        </p:nvPicPr>
        <p:blipFill>
          <a:blip r:embed="rId3"/>
          <a:stretch>
            <a:fillRect/>
          </a:stretch>
        </p:blipFill>
        <p:spPr>
          <a:xfrm>
            <a:off x="500418" y="3816255"/>
            <a:ext cx="7264464" cy="2937898"/>
          </a:xfrm>
          <a:prstGeom prst="rect">
            <a:avLst/>
          </a:prstGeom>
        </p:spPr>
      </p:pic>
      <p:sp>
        <p:nvSpPr>
          <p:cNvPr id="12" name="Titre 1">
            <a:extLst>
              <a:ext uri="{FF2B5EF4-FFF2-40B4-BE49-F238E27FC236}">
                <a16:creationId xmlns:a16="http://schemas.microsoft.com/office/drawing/2014/main" id="{AB923BCC-3352-0AFB-1337-7448D5897ED5}"/>
              </a:ext>
            </a:extLst>
          </p:cNvPr>
          <p:cNvSpPr>
            <a:spLocks noGrp="1"/>
          </p:cNvSpPr>
          <p:nvPr>
            <p:ph type="title"/>
          </p:nvPr>
        </p:nvSpPr>
        <p:spPr>
          <a:xfrm>
            <a:off x="-37324" y="79407"/>
            <a:ext cx="6766249" cy="740664"/>
          </a:xfrm>
        </p:spPr>
        <p:txBody>
          <a:bodyPr>
            <a:normAutofit/>
          </a:bodyPr>
          <a:lstStyle/>
          <a:p>
            <a:pPr algn="ctr"/>
            <a:r>
              <a:rPr lang="fr-FR" sz="3000" b="1" dirty="0"/>
              <a:t>Amélioration expérience utilisateur</a:t>
            </a:r>
          </a:p>
        </p:txBody>
      </p:sp>
      <p:sp>
        <p:nvSpPr>
          <p:cNvPr id="13" name="ZoneTexte 12">
            <a:extLst>
              <a:ext uri="{FF2B5EF4-FFF2-40B4-BE49-F238E27FC236}">
                <a16:creationId xmlns:a16="http://schemas.microsoft.com/office/drawing/2014/main" id="{89FF7EA0-187D-A852-D2F2-A7B965E996D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62048" y="1188540"/>
            <a:ext cx="3647710" cy="2678661"/>
          </a:xfrm>
          <a:prstGeom prst="rect">
            <a:avLst/>
          </a:prstGeom>
        </p:spPr>
        <p:txBody>
          <a:bodyPr anchor="ctr">
            <a:noAutofit/>
          </a:bodyPr>
          <a:lstStyle/>
          <a:p>
            <a:pPr marL="342900" indent="-342900" algn="ctr">
              <a:spcBef>
                <a:spcPts val="2500"/>
              </a:spcBef>
              <a:spcAft>
                <a:spcPts val="600"/>
              </a:spcAft>
              <a:buFont typeface="Arial" panose="020B0604020202020204" pitchFamily="34" charset="0"/>
              <a:buChar char="•"/>
            </a:pPr>
            <a:r>
              <a:rPr lang="fr-FR" sz="2400" b="1" noProof="0" dirty="0"/>
              <a:t>Ajout PDF/GPX</a:t>
            </a:r>
          </a:p>
          <a:p>
            <a:pPr marL="342900" indent="-342900" algn="ctr">
              <a:spcBef>
                <a:spcPts val="2500"/>
              </a:spcBef>
              <a:spcAft>
                <a:spcPts val="600"/>
              </a:spcAft>
              <a:buFont typeface="Arial" panose="020B0604020202020204" pitchFamily="34" charset="0"/>
              <a:buChar char="•"/>
            </a:pPr>
            <a:r>
              <a:rPr lang="fr-FR" sz="2400" b="1" noProof="0" dirty="0"/>
              <a:t>Ajout de commentaire</a:t>
            </a:r>
          </a:p>
          <a:p>
            <a:pPr marL="342900" indent="-342900" algn="ctr">
              <a:spcBef>
                <a:spcPts val="2500"/>
              </a:spcBef>
              <a:spcAft>
                <a:spcPts val="600"/>
              </a:spcAft>
              <a:buFont typeface="Arial" panose="020B0604020202020204" pitchFamily="34" charset="0"/>
              <a:buChar char="•"/>
            </a:pPr>
            <a:r>
              <a:rPr lang="fr-FR" sz="2400" b="1" dirty="0"/>
              <a:t>Amélioration page d’inscription</a:t>
            </a:r>
            <a:r>
              <a:rPr lang="fr-FR" sz="2400" b="1" noProof="0" dirty="0"/>
              <a:t>	</a:t>
            </a:r>
          </a:p>
        </p:txBody>
      </p:sp>
    </p:spTree>
    <p:extLst>
      <p:ext uri="{BB962C8B-B14F-4D97-AF65-F5344CB8AC3E}">
        <p14:creationId xmlns:p14="http://schemas.microsoft.com/office/powerpoint/2010/main" val="92215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304E48"/>
        </a:solidFill>
        <a:effectLst/>
      </p:bgPr>
    </p:bg>
    <p:spTree>
      <p:nvGrpSpPr>
        <p:cNvPr id="1" name="">
          <a:extLst>
            <a:ext uri="{FF2B5EF4-FFF2-40B4-BE49-F238E27FC236}">
              <a16:creationId xmlns:a16="http://schemas.microsoft.com/office/drawing/2014/main" id="{702B9AAE-AA3C-E0BC-A8B5-4E13BE268A2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F7F1DE-1F27-F087-5C49-70C45185E08A}"/>
              </a:ext>
            </a:extLst>
          </p:cNvPr>
          <p:cNvSpPr>
            <a:spLocks noGrp="1"/>
          </p:cNvSpPr>
          <p:nvPr>
            <p:ph type="title"/>
          </p:nvPr>
        </p:nvSpPr>
        <p:spPr>
          <a:xfrm>
            <a:off x="429767" y="1810512"/>
            <a:ext cx="9918000" cy="4562856"/>
          </a:xfrm>
        </p:spPr>
        <p:txBody>
          <a:bodyPr anchor="b">
            <a:normAutofit/>
          </a:bodyPr>
          <a:lstStyle/>
          <a:p>
            <a:r>
              <a:rPr lang="fr-FR" noProof="0" dirty="0">
                <a:solidFill>
                  <a:schemeClr val="bg1"/>
                </a:solidFill>
              </a:rPr>
              <a:t>Présentation technique généralisé </a:t>
            </a:r>
          </a:p>
        </p:txBody>
      </p:sp>
      <p:sp>
        <p:nvSpPr>
          <p:cNvPr id="4" name="Espace réservé du numéro de diapositive 3">
            <a:extLst>
              <a:ext uri="{FF2B5EF4-FFF2-40B4-BE49-F238E27FC236}">
                <a16:creationId xmlns:a16="http://schemas.microsoft.com/office/drawing/2014/main" id="{BD337B52-D254-3D8B-E2D6-760D49354777}"/>
              </a:ext>
            </a:extLst>
          </p:cNvPr>
          <p:cNvSpPr>
            <a:spLocks noGrp="1"/>
          </p:cNvSpPr>
          <p:nvPr>
            <p:ph type="sldNum" sz="quarter" idx="12"/>
          </p:nvPr>
        </p:nvSpPr>
        <p:spPr/>
        <p:txBody>
          <a:bodyPr/>
          <a:lstStyle/>
          <a:p>
            <a:fld id="{84145AC3-CC88-4C8A-A6CE-8D44921B6A23}" type="slidenum">
              <a:rPr lang="fr-FR" noProof="0" smtClean="0"/>
              <a:pPr/>
              <a:t>13</a:t>
            </a:fld>
            <a:endParaRPr lang="fr-FR" noProof="0" dirty="0"/>
          </a:p>
        </p:txBody>
      </p:sp>
      <p:pic>
        <p:nvPicPr>
          <p:cNvPr id="9" name="Image 8" descr="Une image contenant texte, Graphique, Police, graphisme&#10;&#10;Le contenu généré par l’IA peut être incorrect.">
            <a:extLst>
              <a:ext uri="{FF2B5EF4-FFF2-40B4-BE49-F238E27FC236}">
                <a16:creationId xmlns:a16="http://schemas.microsoft.com/office/drawing/2014/main" id="{1C02209B-16D4-6445-33F1-60F101271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053" y="5931581"/>
            <a:ext cx="1821084" cy="700691"/>
          </a:xfrm>
          <a:prstGeom prst="rect">
            <a:avLst/>
          </a:prstGeom>
        </p:spPr>
      </p:pic>
    </p:spTree>
    <p:extLst>
      <p:ext uri="{BB962C8B-B14F-4D97-AF65-F5344CB8AC3E}">
        <p14:creationId xmlns:p14="http://schemas.microsoft.com/office/powerpoint/2010/main" val="887087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38334F1-DE58-8E22-3A3E-6EED4D67647D}"/>
              </a:ext>
            </a:extLst>
          </p:cNvPr>
          <p:cNvSpPr>
            <a:spLocks noGrp="1"/>
          </p:cNvSpPr>
          <p:nvPr>
            <p:ph type="sldNum" sz="quarter" idx="12"/>
          </p:nvPr>
        </p:nvSpPr>
        <p:spPr/>
        <p:txBody>
          <a:bodyPr/>
          <a:lstStyle/>
          <a:p>
            <a:fld id="{84145AC3-CC88-4C8A-A6CE-8D44921B6A23}" type="slidenum">
              <a:rPr lang="en-US" smtClean="0"/>
              <a:pPr/>
              <a:t>14</a:t>
            </a:fld>
            <a:endParaRPr lang="en-US" dirty="0"/>
          </a:p>
        </p:txBody>
      </p:sp>
      <p:sp>
        <p:nvSpPr>
          <p:cNvPr id="5" name="Titre 1">
            <a:extLst>
              <a:ext uri="{FF2B5EF4-FFF2-40B4-BE49-F238E27FC236}">
                <a16:creationId xmlns:a16="http://schemas.microsoft.com/office/drawing/2014/main" id="{ED57D25A-1ABE-D15D-43C6-F309784FE7D6}"/>
              </a:ext>
            </a:extLst>
          </p:cNvPr>
          <p:cNvSpPr>
            <a:spLocks noGrp="1"/>
          </p:cNvSpPr>
          <p:nvPr>
            <p:ph type="title"/>
          </p:nvPr>
        </p:nvSpPr>
        <p:spPr>
          <a:xfrm>
            <a:off x="2712875" y="267180"/>
            <a:ext cx="6766249" cy="740664"/>
          </a:xfrm>
        </p:spPr>
        <p:txBody>
          <a:bodyPr>
            <a:normAutofit/>
          </a:bodyPr>
          <a:lstStyle/>
          <a:p>
            <a:pPr algn="ctr"/>
            <a:r>
              <a:rPr lang="fr-FR" sz="3000" b="1" dirty="0"/>
              <a:t>Application de Framework MVC</a:t>
            </a:r>
          </a:p>
        </p:txBody>
      </p:sp>
      <p:pic>
        <p:nvPicPr>
          <p:cNvPr id="2050" name="Picture 2" descr="1) PHP › Guide Complet : Design Pattern MVC - laConsole">
            <a:extLst>
              <a:ext uri="{FF2B5EF4-FFF2-40B4-BE49-F238E27FC236}">
                <a16:creationId xmlns:a16="http://schemas.microsoft.com/office/drawing/2014/main" id="{21EC6604-F911-DBF2-4957-F611ADC3F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506" y="1229129"/>
            <a:ext cx="7446986" cy="418893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13704EE-3D0D-4E16-65A3-3748D32BCB14}"/>
              </a:ext>
            </a:extLst>
          </p:cNvPr>
          <p:cNvSpPr txBox="1"/>
          <p:nvPr/>
        </p:nvSpPr>
        <p:spPr>
          <a:xfrm>
            <a:off x="3198844" y="5418059"/>
            <a:ext cx="5794310" cy="461665"/>
          </a:xfrm>
          <a:prstGeom prst="rect">
            <a:avLst/>
          </a:prstGeom>
          <a:noFill/>
        </p:spPr>
        <p:txBody>
          <a:bodyPr wrap="square" rtlCol="0">
            <a:spAutoFit/>
          </a:bodyPr>
          <a:lstStyle/>
          <a:p>
            <a:r>
              <a:rPr lang="fr-FR" sz="2400" dirty="0">
                <a:hlinkClick r:id="rId3"/>
              </a:rPr>
              <a:t>Suite avec la documentation du projet</a:t>
            </a:r>
            <a:endParaRPr lang="fr-FR" sz="2400" dirty="0"/>
          </a:p>
        </p:txBody>
      </p:sp>
    </p:spTree>
    <p:extLst>
      <p:ext uri="{BB962C8B-B14F-4D97-AF65-F5344CB8AC3E}">
        <p14:creationId xmlns:p14="http://schemas.microsoft.com/office/powerpoint/2010/main" val="81052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67D906-44FA-63FA-FB71-31F892F5CB41}"/>
              </a:ext>
            </a:extLst>
          </p:cNvPr>
          <p:cNvSpPr>
            <a:spLocks noGrp="1"/>
          </p:cNvSpPr>
          <p:nvPr>
            <p:ph type="title"/>
          </p:nvPr>
        </p:nvSpPr>
        <p:spPr>
          <a:xfrm>
            <a:off x="429768" y="429768"/>
            <a:ext cx="10890374" cy="1627632"/>
          </a:xfrm>
        </p:spPr>
        <p:txBody>
          <a:bodyPr anchor="ctr">
            <a:normAutofit fontScale="90000"/>
          </a:bodyPr>
          <a:lstStyle/>
          <a:p>
            <a:pPr algn="ctr"/>
            <a:r>
              <a:rPr lang="fr-FR" noProof="0" dirty="0"/>
              <a:t>Axes d’amélioration</a:t>
            </a:r>
            <a:br>
              <a:rPr lang="fr-FR" noProof="0" dirty="0"/>
            </a:br>
            <a:endParaRPr lang="fr-FR" noProof="0" dirty="0"/>
          </a:p>
        </p:txBody>
      </p:sp>
      <p:graphicFrame>
        <p:nvGraphicFramePr>
          <p:cNvPr id="7" name="Espace réservé du contenu 2">
            <a:extLst>
              <a:ext uri="{FF2B5EF4-FFF2-40B4-BE49-F238E27FC236}">
                <a16:creationId xmlns:a16="http://schemas.microsoft.com/office/drawing/2014/main" id="{F624974E-0A25-B72F-7CAC-9978F0CF4811}"/>
              </a:ext>
            </a:extLst>
          </p:cNvPr>
          <p:cNvGraphicFramePr>
            <a:graphicFrameLocks noGrp="1"/>
          </p:cNvGraphicFramePr>
          <p:nvPr>
            <p:ph sz="quarter" idx="13"/>
            <p:extLst>
              <p:ext uri="{D42A27DB-BD31-4B8C-83A1-F6EECF244321}">
                <p14:modId xmlns:p14="http://schemas.microsoft.com/office/powerpoint/2010/main" val="4190395468"/>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2361583"/>
          <a:ext cx="10890374" cy="283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numéro de diapositive 3">
            <a:extLst>
              <a:ext uri="{FF2B5EF4-FFF2-40B4-BE49-F238E27FC236}">
                <a16:creationId xmlns:a16="http://schemas.microsoft.com/office/drawing/2014/main" id="{80032A7B-B924-9299-B6A5-8C04C24CFFB8}"/>
              </a:ext>
            </a:extLst>
          </p:cNvPr>
          <p:cNvSpPr>
            <a:spLocks noGrp="1"/>
          </p:cNvSpPr>
          <p:nvPr>
            <p:ph type="sldNum" sz="quarter" idx="12"/>
          </p:nvPr>
        </p:nvSpPr>
        <p:spPr/>
        <p:txBody>
          <a:bodyPr/>
          <a:lstStyle/>
          <a:p>
            <a:fld id="{CC057153-B650-4DEB-B370-79DDCFDCE934}" type="slidenum">
              <a:rPr lang="fr-FR" noProof="0" smtClean="0"/>
              <a:t>15</a:t>
            </a:fld>
            <a:endParaRPr lang="fr-FR" noProof="0" dirty="0"/>
          </a:p>
        </p:txBody>
      </p:sp>
    </p:spTree>
    <p:extLst>
      <p:ext uri="{BB962C8B-B14F-4D97-AF65-F5344CB8AC3E}">
        <p14:creationId xmlns:p14="http://schemas.microsoft.com/office/powerpoint/2010/main" val="113166144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21D8F6-DF34-1C0F-8957-1FF169005DEF}"/>
              </a:ext>
            </a:extLst>
          </p:cNvPr>
          <p:cNvSpPr>
            <a:spLocks noGrp="1"/>
          </p:cNvSpPr>
          <p:nvPr>
            <p:ph type="title"/>
          </p:nvPr>
        </p:nvSpPr>
        <p:spPr>
          <a:xfrm>
            <a:off x="3175799" y="457760"/>
            <a:ext cx="4969826" cy="624591"/>
          </a:xfrm>
        </p:spPr>
        <p:txBody>
          <a:bodyPr/>
          <a:lstStyle/>
          <a:p>
            <a:r>
              <a:rPr lang="fr-FR" sz="3600" dirty="0"/>
              <a:t>Merci de votre écoute </a:t>
            </a:r>
          </a:p>
        </p:txBody>
      </p:sp>
      <p:sp>
        <p:nvSpPr>
          <p:cNvPr id="4" name="Espace réservé du numéro de diapositive 3">
            <a:extLst>
              <a:ext uri="{FF2B5EF4-FFF2-40B4-BE49-F238E27FC236}">
                <a16:creationId xmlns:a16="http://schemas.microsoft.com/office/drawing/2014/main" id="{1EFEDA1A-8328-E4C1-F73D-C55095F516E4}"/>
              </a:ext>
            </a:extLst>
          </p:cNvPr>
          <p:cNvSpPr>
            <a:spLocks noGrp="1"/>
          </p:cNvSpPr>
          <p:nvPr>
            <p:ph type="sldNum" sz="quarter" idx="12"/>
          </p:nvPr>
        </p:nvSpPr>
        <p:spPr/>
        <p:txBody>
          <a:bodyPr/>
          <a:lstStyle/>
          <a:p>
            <a:fld id="{CC057153-B650-4DEB-B370-79DDCFDCE934}" type="slidenum">
              <a:rPr lang="en-US" smtClean="0"/>
              <a:t>16</a:t>
            </a:fld>
            <a:endParaRPr lang="en-US" dirty="0"/>
          </a:p>
        </p:txBody>
      </p:sp>
      <p:pic>
        <p:nvPicPr>
          <p:cNvPr id="7" name="Image 6">
            <a:extLst>
              <a:ext uri="{FF2B5EF4-FFF2-40B4-BE49-F238E27FC236}">
                <a16:creationId xmlns:a16="http://schemas.microsoft.com/office/drawing/2014/main" id="{9B42E8A7-F2D8-E4AA-E479-F35205C4E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463" y="457760"/>
            <a:ext cx="5150498" cy="5150498"/>
          </a:xfrm>
          <a:prstGeom prst="rect">
            <a:avLst/>
          </a:prstGeom>
        </p:spPr>
      </p:pic>
      <p:sp>
        <p:nvSpPr>
          <p:cNvPr id="8" name="Titre 1">
            <a:extLst>
              <a:ext uri="{FF2B5EF4-FFF2-40B4-BE49-F238E27FC236}">
                <a16:creationId xmlns:a16="http://schemas.microsoft.com/office/drawing/2014/main" id="{DEB90BD6-4A92-D35B-37FE-4E576ED7DF67}"/>
              </a:ext>
            </a:extLst>
          </p:cNvPr>
          <p:cNvSpPr txBox="1">
            <a:spLocks/>
          </p:cNvSpPr>
          <p:nvPr/>
        </p:nvSpPr>
        <p:spPr>
          <a:xfrm>
            <a:off x="342729" y="5054766"/>
            <a:ext cx="10635965" cy="14649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8000" b="0" kern="1200">
                <a:solidFill>
                  <a:schemeClr val="tx1"/>
                </a:solidFill>
                <a:latin typeface="+mj-lt"/>
                <a:ea typeface="+mj-ea"/>
                <a:cs typeface="+mj-cs"/>
              </a:defRPr>
            </a:lvl1pPr>
          </a:lstStyle>
          <a:p>
            <a:pPr algn="ctr"/>
            <a:r>
              <a:rPr lang="fr-FR" sz="2800" dirty="0"/>
              <a:t>Adrien Bayssat - Céleste Bulle - Sasha Lambert - Lenny Poncet</a:t>
            </a:r>
          </a:p>
          <a:p>
            <a:pPr algn="ctr"/>
            <a:endParaRPr lang="fr-FR" sz="2800" dirty="0"/>
          </a:p>
          <a:p>
            <a:pPr algn="ctr"/>
            <a:r>
              <a:rPr lang="fr-FR" sz="2800" dirty="0"/>
              <a:t>Tuteur: Jean-Pierre Boutin</a:t>
            </a:r>
          </a:p>
        </p:txBody>
      </p:sp>
    </p:spTree>
    <p:extLst>
      <p:ext uri="{BB962C8B-B14F-4D97-AF65-F5344CB8AC3E}">
        <p14:creationId xmlns:p14="http://schemas.microsoft.com/office/powerpoint/2010/main" val="77342174"/>
      </p:ext>
    </p:extLst>
  </p:cSld>
  <p:clrMapOvr>
    <a:masterClrMapping/>
  </p:clrMapOvr>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943</Words>
  <Application>Microsoft Office PowerPoint</Application>
  <PresentationFormat>Grand écran</PresentationFormat>
  <Paragraphs>114</Paragraphs>
  <Slides>16</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Aptos</vt:lpstr>
      <vt:lpstr>Arial</vt:lpstr>
      <vt:lpstr>Neue Haas Grotesk Text Pro</vt:lpstr>
      <vt:lpstr>DuneVTI</vt:lpstr>
      <vt:lpstr>Présentation de Trips &amp; Roads   Une application collaborative pour la planification et le partage de road trips.</vt:lpstr>
      <vt:lpstr>Déroulement  de la présentation</vt:lpstr>
      <vt:lpstr>Standardisation des pratiques de développement</vt:lpstr>
      <vt:lpstr>Design pattern</vt:lpstr>
      <vt:lpstr>camelCase</vt:lpstr>
      <vt:lpstr>Documentarisation</vt:lpstr>
      <vt:lpstr>Optimisation technique</vt:lpstr>
      <vt:lpstr>Refonte du CSS</vt:lpstr>
      <vt:lpstr>Refonte des fichier JS</vt:lpstr>
      <vt:lpstr>Schématisation de l’optimisation du JS </vt:lpstr>
      <vt:lpstr>Optimisation des axes d'amélioration identifiés</vt:lpstr>
      <vt:lpstr>Amélioration expérience utilisateur</vt:lpstr>
      <vt:lpstr>Présentation technique généralisé </vt:lpstr>
      <vt:lpstr>Application de Framework MVC</vt:lpstr>
      <vt:lpstr>Axes d’amélioration </vt:lpstr>
      <vt:lpstr>Merci de votre écoute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Trips &amp; Roads : Une application collaborative pour la planification et le partage de road trips</dc:title>
  <dc:creator>Nadège BULLE</dc:creator>
  <cp:lastModifiedBy>adrien Bayssat</cp:lastModifiedBy>
  <cp:revision>17</cp:revision>
  <dcterms:created xsi:type="dcterms:W3CDTF">2026-01-08T16:48:53Z</dcterms:created>
  <dcterms:modified xsi:type="dcterms:W3CDTF">2026-04-01T15:44:25Z</dcterms:modified>
</cp:coreProperties>
</file>